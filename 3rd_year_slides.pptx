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link.springer.com/chapter/10.1007/978-3-031-21343-4_4" TargetMode="Externa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link.springer.com/chapter/10.1007/978-3-031-21343-4_4" TargetMode="External" /><Relationship Id="rId4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scopus.com/pages/publications/85064443425" TargetMode="External" /><Relationship Id="rId5" Type="http://schemas.openxmlformats.org/officeDocument/2006/relationships/hyperlink" Target="https://digitaltwin1.org/articles/1-2/v2" TargetMode="External" /><Relationship Id="rId4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tandfonline.com/doi/full/10.1080/27525783.2025.2600763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ciencedirect.com/journal/computers-and-electronics-in-agriculture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6.png" /><Relationship Id="rId2" Type="http://schemas.openxmlformats.org/officeDocument/2006/relationships/image" Target="../media/image5.sv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8.svg" /><Relationship Id="rId2" Type="http://schemas.openxmlformats.org/officeDocument/2006/relationships/image" Target="../media/image7.sv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svg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vldb.org/2027/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2.svg" /><Relationship Id="rId2" Type="http://schemas.openxmlformats.org/officeDocument/2006/relationships/image" Target="../media/image11.sv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4.svg" /><Relationship Id="rId2" Type="http://schemas.openxmlformats.org/officeDocument/2006/relationships/image" Target="../media/image13.sv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6.svg" /><Relationship Id="rId2" Type="http://schemas.openxmlformats.org/officeDocument/2006/relationships/image" Target="../media/image15.sv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17.sv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18.sv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19.sv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20.sv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21.sv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rxiv.org/abs/2207.12208" TargetMode="Externa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3.svg" /><Relationship Id="rId2" Type="http://schemas.openxmlformats.org/officeDocument/2006/relationships/image" Target="../media/image22.sv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arxiv.org/abs/2207.12208" TargetMode="External" /><Relationship Id="rId3" Type="http://schemas.openxmlformats.org/officeDocument/2006/relationships/image" Target="../media/image24.sv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dexa.org/2026/dawak2026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Hi!</a:t>
            </a:r>
          </a:p>
          <a:p>
            <a:pPr lvl="1"/>
            <a:r>
              <a:rPr/>
              <a:t>Manuele Pasini, 3rd year Ph.D. Candidate</a:t>
            </a:r>
          </a:p>
          <a:p>
            <a:pPr lvl="1"/>
            <a:r>
              <a:rPr/>
              <a:t>Supervisor: Matteo Golfarelli</a:t>
            </a:r>
          </a:p>
          <a:p>
            <a:pPr lvl="1"/>
            <a:r>
              <a:rPr/>
              <a:t>Research interests:</a:t>
            </a:r>
          </a:p>
          <a:p>
            <a:pPr lvl="2"/>
            <a:r>
              <a:rPr/>
              <a:t>Database / Data Engineering</a:t>
            </a:r>
          </a:p>
          <a:p>
            <a:pPr lvl="2"/>
            <a:r>
              <a:rPr/>
              <a:t>Digital Twins &amp; Precisision Agriculture</a:t>
            </a:r>
          </a:p>
          <a:p>
            <a:pPr lvl="1"/>
            <a:r>
              <a:rPr/>
              <a:t>Thesis: Architectures and Methods for Digital Twin Platform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Digital Twin functional view</a:t>
            </a:r>
          </a:p>
        </p:txBody>
      </p:sp>
      <p:pic>
        <p:nvPicPr>
          <p:cNvPr descr="https://github.com/ManuelePasini/slides-markdown/blob/master/slides/images/phd3rdyear/datapla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a generic data platform with its components and layers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Twins: Concept &amp; State of the 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Digital Twin (DT): physical entity (PE) + virtual representation (VE), connected via </a:t>
            </a:r>
            <a:r>
              <a:rPr b="1"/>
              <a:t>bidirectional</a:t>
            </a:r>
            <a:r>
              <a:rPr/>
              <a:t> data flow</a:t>
            </a:r>
          </a:p>
          <a:p>
            <a:pPr lvl="0"/>
            <a:r>
              <a:rPr/>
              <a:t>Reference architectures:</a:t>
            </a:r>
          </a:p>
          <a:p>
            <a:pPr lvl="1"/>
            <a:r>
              <a:rPr/>
              <a:t>3D model (</a:t>
            </a:r>
            <a:r>
              <a:rPr>
                <a:hlinkClick r:id="rId2"/>
              </a:rPr>
              <a:t>M. Grieves</a:t>
            </a:r>
            <a:r>
              <a:rPr/>
              <a:t>)</a:t>
            </a:r>
          </a:p>
          <a:p>
            <a:pPr lvl="1"/>
            <a:r>
              <a:rPr/>
              <a:t>5D model (</a:t>
            </a:r>
            <a:r>
              <a:rPr>
                <a:hlinkClick r:id="rId3"/>
              </a:rPr>
              <a:t>Tao et al.</a:t>
            </a:r>
            <a:r>
              <a:rPr/>
              <a:t>): PE, VE, connection, data, service</a:t>
            </a:r>
          </a:p>
          <a:p>
            <a:pPr lvl="0"/>
            <a:r>
              <a:rPr b="1"/>
              <a:t>Data is not a by-product</a:t>
            </a:r>
            <a:r>
              <a:rPr/>
              <a:t> — it’s the component connecting every dimension</a:t>
            </a:r>
          </a:p>
        </p:txBody>
      </p:sp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5"/>
              </a:rPr>
              <a:t>M. Grieves</a:t>
            </a:r>
            <a:r>
              <a:rPr/>
              <a:t> 3D 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5di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35100"/>
            <a:ext cx="4038600" cy="241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5-Dimensional DT (</a:t>
            </a:r>
            <a:r>
              <a:rPr>
                <a:hlinkClick r:id="rId3"/>
              </a:rPr>
              <a:t>Tao et al.</a:t>
            </a:r>
            <a:r>
              <a:rPr/>
              <a:t>)</a:t>
            </a:r>
          </a:p>
        </p:txBody>
      </p:sp>
      <p:pic>
        <p:nvPicPr>
          <p:cNvPr descr="https://github.com/ManuelePasini/slides-markdown/blob/master/slides/images/dt/dt_data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648200" y="1358900"/>
            <a:ext cx="40386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Characterizing Digital Twin data (</a:t>
            </a:r>
            <a:r>
              <a:rPr>
                <a:hlinkClick r:id="rId5"/>
              </a:rPr>
              <a:t>Fei, Tao 2023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Challenge: Fragmentation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Digital Twins adopted across many independent domains:</a:t>
            </a:r>
          </a:p>
          <a:p>
            <a:pPr lvl="1"/>
            <a:r>
              <a:rPr/>
              <a:t>manufacturing, energy, aerospace, healthcare, agriculture, smart cities, transportation…</a:t>
            </a:r>
          </a:p>
          <a:p>
            <a:pPr lvl="0"/>
            <a:r>
              <a:rPr/>
              <a:t>No universally accepted definition (</a:t>
            </a:r>
            <a:r>
              <a:rPr>
                <a:hlinkClick r:id="rId2"/>
              </a:rPr>
              <a:t>Wuni et al.</a:t>
            </a:r>
            <a:r>
              <a:rPr/>
              <a:t>: 358 definitions surveyed)</a:t>
            </a:r>
          </a:p>
          <a:p>
            <a:pPr lvl="0"/>
            <a:r>
              <a:rPr/>
              <a:t>Most application builds its own:</a:t>
            </a:r>
          </a:p>
          <a:p>
            <a:pPr lvl="1"/>
            <a:r>
              <a:rPr/>
              <a:t>architecture and technological stack</a:t>
            </a:r>
          </a:p>
          <a:p>
            <a:pPr lvl="1"/>
            <a:r>
              <a:rPr/>
              <a:t>data representation</a:t>
            </a:r>
          </a:p>
          <a:p>
            <a:pPr lvl="0"/>
            <a:r>
              <a:rPr/>
              <a:t>Result: isolated, application-specific Digital Twins </a:t>
            </a:r>
          </a:p>
          <a:p>
            <a:pPr lvl="1"/>
            <a:r>
              <a:rPr/>
              <a:t>data isolation</a:t>
            </a:r>
          </a:p>
          <a:p>
            <a:pPr lvl="1"/>
            <a:r>
              <a:rPr/>
              <a:t>architectural heterogeneity</a:t>
            </a:r>
          </a:p>
          <a:p>
            <a:pPr lvl="1"/>
            <a:r>
              <a:rPr/>
              <a:t>scalability issues</a:t>
            </a:r>
          </a:p>
          <a:p>
            <a:pPr lvl="0" indent="0" marL="0">
              <a:buNone/>
            </a:pPr>
            <a:r>
              <a:rPr b="1"/>
              <a:t>Fragmentation → limited standardization &amp; interoperability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 Platform: A Data-Oriented Perspective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Digital Twin is a data-intensive application</a:t>
            </a:r>
          </a:p>
          <a:p>
            <a:pPr lvl="0"/>
            <a:r>
              <a:rPr b="1"/>
              <a:t>Divide et impera</a:t>
            </a:r>
            <a:r>
              <a:rPr/>
              <a:t>: separate the software and data dimensions</a:t>
            </a:r>
          </a:p>
          <a:p>
            <a:pPr lvl="1"/>
            <a:r>
              <a:rPr/>
              <a:t>Software dimension → substantial work, increasingly mature</a:t>
            </a:r>
          </a:p>
          <a:p>
            <a:pPr lvl="1"/>
            <a:r>
              <a:rPr/>
              <a:t>Data dimension → far less mature ⇐ focus of my research</a:t>
            </a:r>
          </a:p>
          <a:p>
            <a:pPr lvl="0"/>
            <a:r>
              <a:rPr b="1"/>
              <a:t>Standardization should start from data</a:t>
            </a:r>
          </a:p>
          <a:p>
            <a:pPr lvl="0"/>
            <a:r>
              <a:rPr/>
              <a:t>Digital Twin Platform (DTP):</a:t>
            </a:r>
          </a:p>
          <a:p>
            <a:pPr lvl="1"/>
            <a:r>
              <a:rPr/>
              <a:t>hosts DTs across their lifecycle, but organized around data</a:t>
            </a:r>
          </a:p>
          <a:p>
            <a:pPr lvl="1"/>
            <a:r>
              <a:rPr/>
              <a:t>agnostic to how a DT is implemented — as long as it respects the platform’s data models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SMARTER: Data-driven optimization of water consumption in kiwifruit orchards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Published in </a:t>
            </a:r>
            <a:r>
              <a:rPr>
                <a:hlinkClick r:id="rId2"/>
              </a:rPr>
              <a:t>Computers and Electronics in Agriculture</a:t>
            </a:r>
          </a:p>
          <a:p>
            <a:pPr lvl="0"/>
            <a:r>
              <a:rPr/>
              <a:t>Two kiwifiruit orchards in Emilia-Romagna</a:t>
            </a:r>
          </a:p>
          <a:p>
            <a:pPr lvl="0"/>
            <a:r>
              <a:rPr/>
              <a:t>Data collected from a grid of soil moisture sensors and weather stations</a:t>
            </a:r>
          </a:p>
          <a:p>
            <a:pPr lvl="0"/>
            <a:r>
              <a:rPr/>
              <a:t>Soil data is interpolated to obtain a 2-dimensional view of soil moisture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plan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193800"/>
            <a:ext cx="3937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Grid positioning</a:t>
            </a:r>
          </a:p>
        </p:txBody>
      </p:sp>
      <p:pic>
        <p:nvPicPr>
          <p:cNvPr descr="https://github.com/ManuelePasini/slides-markdown/blob/master/slides/images/phd3rdyear/moisture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082800"/>
            <a:ext cx="4038600" cy="110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From continuous humidity to a discrete representation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SMARTER: Data-driven optimization of water consumption in kiwifruit orchards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 Architecture</a:t>
            </a:r>
          </a:p>
          <a:p>
            <a:pPr lvl="1"/>
            <a:r>
              <a:rPr/>
              <a:t>Data collected and transformed through a Data Platform</a:t>
            </a:r>
          </a:p>
          <a:p>
            <a:pPr lvl="1"/>
            <a:r>
              <a:rPr/>
              <a:t>PID controller + simulation model to determine irrigaton amounts</a:t>
            </a:r>
          </a:p>
        </p:txBody>
      </p:sp>
      <p:pic>
        <p:nvPicPr>
          <p:cNvPr descr="https://github.com/ManuelePasini/slides-markdown/blob/master/slides/images/phd3rdyear/smarter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89100"/>
            <a:ext cx="4038600" cy="189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overview of SMARTER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 Results</a:t>
            </a:r>
          </a:p>
          <a:p>
            <a:pPr lvl="1"/>
            <a:r>
              <a:rPr/>
              <a:t>Up to 40% in water savings</a:t>
            </a:r>
          </a:p>
          <a:p>
            <a:pPr lvl="1"/>
            <a:r>
              <a:rPr/>
              <a:t>Fruit quality preserved, smaller fruit but of improved quality</a:t>
            </a:r>
          </a:p>
        </p:txBody>
      </p:sp>
      <p:pic>
        <p:nvPicPr>
          <p:cNvPr descr="https://github.com/ManuelePasini/slides-markdown/blob/master/slides/images/phd3rdyear/smarter_results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y="1193800"/>
            <a:ext c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Smarter results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SMARTER: Data-driven optimization of water consumption in kiwifruit orchards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Beyond the research paper…</a:t>
            </a:r>
          </a:p>
          <a:p>
            <a:pPr lvl="1"/>
            <a:r>
              <a:rPr/>
              <a:t>13 companies</a:t>
            </a:r>
          </a:p>
          <a:p>
            <a:pPr lvl="1"/>
            <a:r>
              <a:rPr/>
              <a:t>over 30 fields</a:t>
            </a:r>
          </a:p>
          <a:p>
            <a:pPr lvl="1"/>
            <a:r>
              <a:rPr/>
              <a:t>over 60 soil moisture grics</a:t>
            </a:r>
          </a:p>
          <a:p>
            <a:pPr lvl="1"/>
            <a:r>
              <a:rPr/>
              <a:t>5 years of data collection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 Architecture</a:t>
            </a:r>
          </a:p>
          <a:p>
            <a:pPr lvl="1"/>
            <a:r>
              <a:rPr/>
              <a:t>Data collected and transformed through a Data Platform</a:t>
            </a:r>
          </a:p>
          <a:p>
            <a:pPr lvl="1"/>
            <a:r>
              <a:rPr/>
              <a:t>PID controller + simulation model to determine irrigaton amounts</a:t>
            </a:r>
          </a:p>
        </p:txBody>
      </p:sp>
      <p:pic>
        <p:nvPicPr>
          <p:cNvPr descr="https://github.com/ManuelePasini/slides-markdown/blob/master/slides/images/phd3rdyear/er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SMARTER 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 Results</a:t>
            </a:r>
          </a:p>
          <a:p>
            <a:pPr lvl="1"/>
            <a:r>
              <a:rPr/>
              <a:t>Up to 40% in water savings</a:t>
            </a:r>
          </a:p>
          <a:p>
            <a:pPr lvl="1"/>
            <a:r>
              <a:rPr/>
              <a:t>Fruit quality preserved, smaller fruit but of improved quality</a:t>
            </a:r>
          </a:p>
        </p:txBody>
      </p:sp>
      <p:pic>
        <p:nvPicPr>
          <p:cNvPr descr="https://github.com/ManuelePasini/slides-markdown/blob/master/slides/images/phd3rdyear/smarter_graph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 more functional view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Temporal Graphs and Time-Series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Currently under review at </a:t>
            </a:r>
            <a:r>
              <a:rPr>
                <a:hlinkClick r:id="rId2"/>
              </a:rPr>
              <a:t>53rd International Conference on Very Large Data Bases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 multistore solution for large spatio-temporal property graphs</a:t>
            </a:r>
          </a:p>
          <a:p>
            <a:pPr lvl="1"/>
            <a:r>
              <a:rPr/>
              <a:t>Graph data model on top of heterogeneous storage</a:t>
            </a:r>
          </a:p>
          <a:p>
            <a:pPr lvl="2"/>
            <a:r>
              <a:rPr/>
              <a:t>Low-evolving data on Graph storage</a:t>
            </a:r>
          </a:p>
          <a:p>
            <a:pPr lvl="2"/>
            <a:r>
              <a:rPr/>
              <a:t>Highly-dynamic data on Time-Series storage</a:t>
            </a:r>
          </a:p>
          <a:p>
            <a:pPr lvl="1"/>
            <a:r>
              <a:rPr/>
              <a:t>Transparent graph query interface.</a:t>
            </a:r>
          </a:p>
        </p:txBody>
      </p:sp>
      <p:pic>
        <p:nvPicPr>
          <p:cNvPr descr="https://github.com/ManuelePasini/slides-markdown/blob/master/slides/images/phd3rdyear/datamode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Data Model</a:t>
            </a:r>
          </a:p>
        </p:txBody>
      </p:sp>
      <p:pic>
        <p:nvPicPr>
          <p:cNvPr descr="https://github.com/ManuelePasini/slides-markdown/blob/master/slides/images/phd3rdyear/arch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333500"/>
            <a:ext cx="4038600" cy="260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STGraph Architecture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STGraph: A Multistore for Temporal Graphs and Time-Series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Property Graph data model</a:t>
            </a:r>
          </a:p>
          <a:p>
            <a:pPr lvl="1"/>
            <a:r>
              <a:rPr/>
              <a:t>TS events (nodes) can hold edges and properties</a:t>
            </a:r>
          </a:p>
          <a:p>
            <a:pPr lvl="1"/>
            <a:r>
              <a:rPr/>
              <a:t>Edges built at query time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Hybrid storage</a:t>
            </a:r>
          </a:p>
          <a:p>
            <a:pPr lvl="1"/>
            <a:r>
              <a:rPr/>
              <a:t>Dedicated Time-Series streaming ingestion of data</a:t>
            </a:r>
          </a:p>
          <a:p>
            <a:pPr lvl="1"/>
            <a:r>
              <a:rPr/>
              <a:t>Query optimization through filter-pushdown</a:t>
            </a:r>
          </a:p>
          <a:p>
            <a:pPr lvl="1"/>
            <a:r>
              <a:rPr/>
              <a:t>Efficient graph traversal &amp; temporal reasoning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Toy Example</a:t>
            </a:r>
          </a:p>
        </p:txBody>
      </p:sp>
      <p:pic>
        <p:nvPicPr>
          <p:cNvPr descr="https://github.com/ManuelePasini/slides-markdown/blob/master/slides/images/phd3rdyear/example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Querying STGraph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Results</a:t>
            </a:r>
          </a:p>
        </p:txBody>
      </p:sp>
      <p:pic>
        <p:nvPicPr>
          <p:cNvPr descr="https://github.com/ManuelePasini/slides-markdown/blob/master/slides/images/phd3rdyear/stgraph_results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y="1193800"/>
            <a:ext cx="-3424605421912711804224326388453092117542246144885094021058843046054807474094793347678096492991863561202338169411550043463399945095914636658488743553681982069396478369743687494513557283403738092975581230237219359896366770498623917892078044755802758867961827228541368981470995035128038595607113538079341469813964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Ingestion and query results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Currently under development, in collaboration with Angela Bonifati @ Lyon1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Complex sensor networks are increasingly common (e.g., transportation networks)</a:t>
            </a:r>
          </a:p>
          <a:p>
            <a:pPr lvl="0"/>
            <a:r>
              <a:rPr/>
              <a:t>Anomaly detection in single time-series is a well-known research field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about topological anomalies?</a:t>
            </a:r>
          </a:p>
          <a:p>
            <a:pPr lvl="1"/>
            <a:r>
              <a:rPr/>
              <a:t>Normal behavior taken individually</a:t>
            </a:r>
          </a:p>
          <a:p>
            <a:pPr lvl="1"/>
            <a:r>
              <a:rPr/>
              <a:t>Topological context makes it anomalous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n2g_er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49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https://github.com/ManuelePasini/slides-markdown/blob/master/slides/images/phd3rdyear/n2g_agro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549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running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1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85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running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2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85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running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3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85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running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4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85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running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5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85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toy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n2g/anom_rea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019300"/>
            <a:ext cx="4038600" cy="172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https://github.com/ManuelePasini/slides-markdown/blob/master/slides/images/phd3rdyear/n2g/anom_top2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87900" y="1193800"/>
            <a:ext cx="3746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Anomaly Detection in Complex Sensor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real data example - Series2Graph algorithm from </a:t>
            </a:r>
            <a:r>
              <a:rPr b="1">
                <a:hlinkClick r:id="rId2"/>
              </a:rPr>
              <a:t>P. Boniol et al.</a:t>
            </a:r>
          </a:p>
        </p:txBody>
      </p:sp>
      <p:pic>
        <p:nvPicPr>
          <p:cNvPr descr="https://github.com/ManuelePasini/slides-markdown/blob/master/slides/images/phd3rdyear/n2g/n2g_real.sv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571500"/>
            <a:ext cx="5105400" cy="363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LLM-Assisted Metadata Query Answering on Data Warehouses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Published at </a:t>
            </a:r>
            <a:r>
              <a:rPr>
                <a:hlinkClick r:id="rId2"/>
              </a:rPr>
              <a:t>28th International Conference on Big Data Analytics and Knowledge Discovery (DAWAK)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2026-09-16T15:07:13Z</dcterms:created>
  <dcterms:modified xsi:type="dcterms:W3CDTF">2026-09-16T15:07:13Z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