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tandfonline.com/doi/full/10.1080/27525783.2025.2600763" TargetMode="External" /><Relationship Id="rId3" Type="http://schemas.openxmlformats.org/officeDocument/2006/relationships/hyperlink" Target="https://www.scopus.com/pages/publications/85064443425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Supervisors: Matteo Golfarelli, Marco Patella, Davide Maltoni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.: 358 definitions surveyed)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/>
              <a:t>Scale: Single DT - Digital Twins Ecosystems (DTE)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Data &amp; 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DT data is highly </a:t>
            </a:r>
            <a:r>
              <a:rPr b="1"/>
              <a:t>heterogeneous</a:t>
            </a:r>
            <a:r>
              <a:rPr/>
              <a:t>: structured / unstructured, sensor / simulation / imagery</a:t>
            </a:r>
          </a:p>
          <a:p>
            <a:pPr lvl="0"/>
            <a:r>
              <a:rPr/>
              <a:t>Shaped by domain: manufacturing, automotive, agriculture → different needs</a:t>
            </a:r>
          </a:p>
          <a:p>
            <a:pPr lvl="0"/>
            <a:r>
              <a:rPr/>
              <a:t>Big-data traits: </a:t>
            </a:r>
            <a:r>
              <a:rPr b="1"/>
              <a:t>volume, variety, velocity</a:t>
            </a:r>
            <a:r>
              <a:rPr/>
              <a:t> + data </a:t>
            </a:r>
            <a:r>
              <a:rPr b="1"/>
              <a:t>quality/veracity</a:t>
            </a:r>
          </a:p>
          <a:p>
            <a:pPr lvl="0"/>
            <a:r>
              <a:rPr/>
              <a:t>Two complementary challenges:</a:t>
            </a:r>
          </a:p>
          <a:p>
            <a:pPr lvl="1"/>
            <a:r>
              <a:rPr b="1"/>
              <a:t>Standardization</a:t>
            </a:r>
            <a:r>
              <a:rPr/>
              <a:t> → shared building blocks (DT) / infrastructure &amp; data models (DTE)</a:t>
            </a:r>
          </a:p>
          <a:p>
            <a:pPr lvl="1"/>
            <a:r>
              <a:rPr b="1"/>
              <a:t>Interoperability</a:t>
            </a:r>
            <a:r>
              <a:rPr/>
              <a:t> → technical, syntactic, semantic, … levels (Acharya et al.)</a:t>
            </a:r>
          </a:p>
          <a:p>
            <a:pPr lvl="0"/>
            <a:r>
              <a:rPr/>
              <a:t>⇒ Fragmentation is the current bottleneck for Digital Twin </a:t>
            </a:r>
            <a:r>
              <a:rPr b="1"/>
              <a:t>Ecosystems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Divide et impera</a:t>
            </a:r>
            <a:r>
              <a:rPr/>
              <a:t>: software and data dimensions are modular, not independent</a:t>
            </a:r>
          </a:p>
          <a:p>
            <a:pPr lvl="0"/>
            <a:r>
              <a:rPr/>
              <a:t>Standardization &amp; interoperability, decomposed:</a:t>
            </a:r>
          </a:p>
          <a:p>
            <a:pPr lvl="1"/>
            <a:r>
              <a:rPr/>
              <a:t>software side → increasingly mature</a:t>
            </a:r>
          </a:p>
          <a:p>
            <a:pPr lvl="1"/>
            <a:r>
              <a:rPr b="1"/>
              <a:t>data side → the harder, less mature half</a:t>
            </a:r>
            <a:r>
              <a:rPr/>
              <a:t> ⇐ focus of this thesis</a:t>
            </a:r>
          </a:p>
          <a:p>
            <a:pPr lvl="0"/>
            <a:r>
              <a:rPr b="1"/>
              <a:t>Digital Twin Platform (DTP)</a:t>
            </a:r>
            <a:r>
              <a:rPr/>
              <a:t>:</a:t>
            </a:r>
          </a:p>
          <a:p>
            <a:pPr lvl="1"/>
            <a:r>
              <a:rPr i="1"/>
              <a:t>is</a:t>
            </a:r>
            <a:r>
              <a:rPr/>
              <a:t> a software environment, hosting DTs across their lifecycle</a:t>
            </a:r>
          </a:p>
          <a:p>
            <a:pPr lvl="1"/>
            <a:r>
              <a:rPr/>
              <a:t>but organized </a:t>
            </a:r>
            <a:r>
              <a:rPr b="1"/>
              <a:t>around data</a:t>
            </a:r>
            <a:r>
              <a:rPr/>
              <a:t>, not around DT-specific software</a:t>
            </a:r>
          </a:p>
          <a:p>
            <a:pPr lvl="1"/>
            <a:r>
              <a:rPr/>
              <a:t>agnostic to how a DT is built — if it respects the platform’s data models</a:t>
            </a:r>
          </a:p>
          <a:p>
            <a:pPr lvl="0"/>
            <a:r>
              <a:rPr/>
              <a:t>Two pillars:</a:t>
            </a:r>
          </a:p>
          <a:p>
            <a:pPr lvl="1"/>
            <a:r>
              <a:rPr b="1"/>
              <a:t>Data Platforms</a:t>
            </a:r>
            <a:r>
              <a:rPr/>
              <a:t> → infrastructural standardization</a:t>
            </a:r>
          </a:p>
          <a:p>
            <a:pPr lvl="1"/>
            <a:r>
              <a:rPr b="1"/>
              <a:t>Data Models &amp; Governance</a:t>
            </a:r>
            <a:r>
              <a:rPr/>
              <a:t> → semantic interoperability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2026-09-15T08:56:05Z</dcterms:created>
  <dcterms:modified xsi:type="dcterms:W3CDTF">2026-09-15T08:56:05Z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