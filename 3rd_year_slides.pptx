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3rd year Ph.D. Candidate</a:t>
            </a:r>
          </a:p>
          <a:p>
            <a:pPr lvl="1"/>
            <a:r>
              <a:rPr/>
              <a:t>Supervisor: Matteo Golfarelli, Marco Patella, Davide Maltoni</a:t>
            </a:r>
          </a:p>
          <a:p>
            <a:pPr lvl="1"/>
            <a:r>
              <a:rPr/>
              <a:t>Research interests:</a:t>
            </a:r>
          </a:p>
          <a:p>
            <a:pPr lvl="2"/>
            <a:r>
              <a:rPr/>
              <a:t>Database / Data engineering</a:t>
            </a:r>
          </a:p>
          <a:p>
            <a:pPr lvl="2"/>
            <a:r>
              <a:rPr/>
              <a:t>Digital Twins &amp; Precisision Agriculture</a:t>
            </a:r>
          </a:p>
          <a:p>
            <a:pPr lvl="1"/>
            <a:r>
              <a:rPr/>
              <a:t>Thesis: Architectures and Methods for Digital Twin Platform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3rdyear/dataplat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An example of a data pipeline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Digital Twin functional view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Twins: Concept &amp; State of the Art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Definition</a:t>
            </a:r>
            <a:r>
              <a:rPr/>
              <a:t>: physical entity + virtual representation, connected via </a:t>
            </a:r>
            <a:r>
              <a:rPr b="1"/>
              <a:t>bidirectional</a:t>
            </a:r>
            <a:r>
              <a:rPr/>
              <a:t> data flow</a:t>
            </a:r>
          </a:p>
          <a:p>
            <a:pPr lvl="1"/>
            <a:r>
              <a:rPr/>
              <a:t>Digital Model → Digital Shadow → Digital Twin (Kritzinger et al.)</a:t>
            </a:r>
          </a:p>
          <a:p>
            <a:pPr lvl="0"/>
            <a:r>
              <a:rPr/>
              <a:t>No universally accepted definition (Wuni et al.: 358 definitions surveyed)</a:t>
            </a:r>
          </a:p>
          <a:p>
            <a:pPr lvl="0"/>
            <a:r>
              <a:rPr/>
              <a:t>Reference architectures:</a:t>
            </a:r>
          </a:p>
          <a:p>
            <a:pPr lvl="1"/>
            <a:r>
              <a:rPr/>
              <a:t>3-component model (Grieves) → </a:t>
            </a:r>
            <a:r>
              <a:rPr b="1"/>
              <a:t>5D model</a:t>
            </a:r>
            <a:r>
              <a:rPr/>
              <a:t>: physical entity, virtual model, connection, data, service (Tao et al.)</a:t>
            </a:r>
          </a:p>
          <a:p>
            <a:pPr lvl="0"/>
            <a:r>
              <a:rPr/>
              <a:t>Scale: unit-level → system-level → </a:t>
            </a:r>
            <a:r>
              <a:rPr b="1"/>
              <a:t>System of Systems</a:t>
            </a:r>
          </a:p>
          <a:p>
            <a:pPr lvl="0"/>
            <a:r>
              <a:rPr/>
              <a:t>Data is not a by-product — it’s the element connecting </a:t>
            </a:r>
            <a:r>
              <a:rPr i="1"/>
              <a:t>every</a:t>
            </a:r>
            <a:r>
              <a:rPr/>
              <a:t> dimension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Digital Twin Data &amp; 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DT data is highly </a:t>
            </a:r>
            <a:r>
              <a:rPr b="1"/>
              <a:t>heterogeneous</a:t>
            </a:r>
            <a:r>
              <a:rPr/>
              <a:t>: structured / unstructured, sensor / simulation / imagery</a:t>
            </a:r>
          </a:p>
          <a:p>
            <a:pPr lvl="0"/>
            <a:r>
              <a:rPr/>
              <a:t>Shaped by domain: manufacturing, automotive, agriculture → different needs</a:t>
            </a:r>
          </a:p>
          <a:p>
            <a:pPr lvl="0"/>
            <a:r>
              <a:rPr/>
              <a:t>Big-data traits: </a:t>
            </a:r>
            <a:r>
              <a:rPr b="1"/>
              <a:t>volume, variety, velocity</a:t>
            </a:r>
            <a:r>
              <a:rPr/>
              <a:t> + data </a:t>
            </a:r>
            <a:r>
              <a:rPr b="1"/>
              <a:t>quality/veracity</a:t>
            </a:r>
          </a:p>
          <a:p>
            <a:pPr lvl="0"/>
            <a:r>
              <a:rPr/>
              <a:t>Two complementary challenges:</a:t>
            </a:r>
          </a:p>
          <a:p>
            <a:pPr lvl="1"/>
            <a:r>
              <a:rPr b="1"/>
              <a:t>Standardization</a:t>
            </a:r>
            <a:r>
              <a:rPr/>
              <a:t> → shared building blocks (DT) / infrastructure &amp; data models (DTE)</a:t>
            </a:r>
          </a:p>
          <a:p>
            <a:pPr lvl="1"/>
            <a:r>
              <a:rPr b="1"/>
              <a:t>Interoperability</a:t>
            </a:r>
            <a:r>
              <a:rPr/>
              <a:t> → technical, syntactic, semantic, … levels (Acharya et al.)</a:t>
            </a:r>
          </a:p>
          <a:p>
            <a:pPr lvl="0"/>
            <a:r>
              <a:rPr/>
              <a:t>⇒ Fragmentation is the current bottleneck for Digital Twin </a:t>
            </a:r>
            <a:r>
              <a:rPr b="1"/>
              <a:t>Ecosystems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Data-Oriented Perspective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Divide et impera</a:t>
            </a:r>
            <a:r>
              <a:rPr/>
              <a:t>: software and data dimensions are modular, not independent</a:t>
            </a:r>
          </a:p>
          <a:p>
            <a:pPr lvl="0"/>
            <a:r>
              <a:rPr/>
              <a:t>Standardization &amp; interoperability, decomposed:</a:t>
            </a:r>
          </a:p>
          <a:p>
            <a:pPr lvl="1"/>
            <a:r>
              <a:rPr/>
              <a:t>software side → increasingly mature</a:t>
            </a:r>
          </a:p>
          <a:p>
            <a:pPr lvl="1"/>
            <a:r>
              <a:rPr b="1"/>
              <a:t>data side → the harder, less mature half</a:t>
            </a:r>
            <a:r>
              <a:rPr/>
              <a:t> ⇐ focus of this thesis</a:t>
            </a:r>
          </a:p>
          <a:p>
            <a:pPr lvl="0"/>
            <a:r>
              <a:rPr b="1"/>
              <a:t>Digital Twin Platform (DTP)</a:t>
            </a:r>
            <a:r>
              <a:rPr/>
              <a:t>:</a:t>
            </a:r>
          </a:p>
          <a:p>
            <a:pPr lvl="1"/>
            <a:r>
              <a:rPr i="1"/>
              <a:t>is</a:t>
            </a:r>
            <a:r>
              <a:rPr/>
              <a:t> a software environment, hosting DTs across their lifecycle</a:t>
            </a:r>
          </a:p>
          <a:p>
            <a:pPr lvl="1"/>
            <a:r>
              <a:rPr/>
              <a:t>but organized </a:t>
            </a:r>
            <a:r>
              <a:rPr b="1"/>
              <a:t>around data</a:t>
            </a:r>
            <a:r>
              <a:rPr/>
              <a:t>, not around DT-specific software</a:t>
            </a:r>
          </a:p>
          <a:p>
            <a:pPr lvl="1"/>
            <a:r>
              <a:rPr/>
              <a:t>agnostic to how a DT is built — if it respects the platform’s data models</a:t>
            </a:r>
          </a:p>
          <a:p>
            <a:pPr lvl="0"/>
            <a:r>
              <a:rPr/>
              <a:t>Two pillars:</a:t>
            </a:r>
          </a:p>
          <a:p>
            <a:pPr lvl="1"/>
            <a:r>
              <a:rPr b="1"/>
              <a:t>Data Platforms</a:t>
            </a:r>
            <a:r>
              <a:rPr/>
              <a:t> → infrastructural standardization</a:t>
            </a:r>
          </a:p>
          <a:p>
            <a:pPr lvl="1"/>
            <a:r>
              <a:rPr b="1"/>
              <a:t>Data Models &amp; Governance</a:t>
            </a:r>
            <a:r>
              <a:rPr/>
              <a:t> → semantic interoperability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2026-09-15T07:41:18Z</dcterms:created>
  <dcterms:modified xsi:type="dcterms:W3CDTF">2026-09-15T07:41:18Z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