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g" ContentType="image/jpeg"/>
  <Override PartName="/docProps/app.xml" ContentType="application/vnd.openxmlformats-officedocument.extended-properties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204"/>
          <a:sy d="100" n="204"/>
        </p:scale>
        <p:origin x="488" y="11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1" Type="http://schemas.openxmlformats.org/officeDocument/2006/relationships/viewProps" Target="viewProps.xml" /><Relationship Id="rId10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3" Type="http://schemas.openxmlformats.org/officeDocument/2006/relationships/tableStyles" Target="tableStyles.xml" /><Relationship Id="rId12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>
            <a:normAutofit/>
          </a:bodyPr>
          <a:lstStyle>
            <a:lvl1pPr>
              <a:defRPr sz="2800"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241EB5C9-1307-BA42-ABA2-0BC069CD8E7F}" type="datetimeFigureOut">
              <a:rPr lang="en-US" smtClean="0"/>
              <a:pPr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>
            <a:normAutofit/>
          </a:bodyPr>
          <a:lstStyle>
            <a:lvl1pPr algn="l">
              <a:defRPr sz="20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100"/>
            </a:lvl2pPr>
            <a:lvl3pPr>
              <a:defRPr sz="1050"/>
            </a:lvl3pPr>
            <a:lvl4pPr>
              <a:defRPr sz="1000"/>
            </a:lvl4pPr>
            <a:lvl5pPr>
              <a:defRPr sz="10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2000">
          <a:solidFill>
            <a:schemeClr val="tx1"/>
          </a:solidFill>
          <a:latin charset="0" panose="020B0604020202020204" pitchFamily="34" typeface="Helvetica"/>
          <a:ea typeface="+mj-ea"/>
          <a:cs charset="0" panose="020B0604020202020204" pitchFamily="34" typeface="Helvetica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2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jp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jp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jpg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Platforms - Under the hood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Manuele Pasini</a:t>
            </a:r>
          </a:p>
          <a:p>
            <a:pPr lvl="0" indent="0" marL="0">
              <a:buNone/>
            </a:pPr>
            <a:r>
              <a:rPr i="1"/>
              <a:t>manuele.pasini@unibo.it</a:t>
            </a:r>
          </a:p>
          <a:p>
            <a:pPr lvl="0" indent="0" marL="0">
              <a:buNone/>
            </a:pPr>
            <a:r>
              <a:rPr/>
              <a:t>09/12/2025</a:t>
            </a:r>
          </a:p>
          <a:p>
            <a:pPr lvl="0" indent="0" marL="0">
              <a:buNone/>
            </a:pP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 Cloud Data Platform</a:t>
            </a:r>
          </a:p>
          <a:p>
            <a:pPr lvl="0"/>
            <a:r>
              <a:rPr/>
              <a:t>Is a </a:t>
            </a:r>
            <a:r>
              <a:rPr i="1"/>
              <a:t>centralized</a:t>
            </a:r>
            <a:r>
              <a:rPr/>
              <a:t> infrastructre composed of </a:t>
            </a:r>
            <a:r>
              <a:rPr i="1"/>
              <a:t>independent</a:t>
            </a:r>
            <a:r>
              <a:rPr/>
              <a:t> and </a:t>
            </a:r>
            <a:r>
              <a:rPr i="1"/>
              <a:t>well-integrated</a:t>
            </a:r>
            <a:r>
              <a:rPr/>
              <a:t> services meeting the </a:t>
            </a:r>
            <a:r>
              <a:rPr i="1"/>
              <a:t>end-to-end</a:t>
            </a:r>
            <a:r>
              <a:rPr/>
              <a:t> needs of data pipelines:</a:t>
            </a:r>
          </a:p>
          <a:p>
            <a:pPr lvl="1"/>
            <a:r>
              <a:rPr i="1"/>
              <a:t>Centralized</a:t>
            </a:r>
            <a:r>
              <a:rPr/>
              <a:t>: a data platform is conceptually a single and unified component;</a:t>
            </a:r>
          </a:p>
          <a:p>
            <a:pPr lvl="1"/>
            <a:r>
              <a:rPr i="1"/>
              <a:t>Independent</a:t>
            </a:r>
            <a:r>
              <a:rPr/>
              <a:t>: changes in a a service do not affect others;</a:t>
            </a:r>
          </a:p>
          <a:p>
            <a:pPr lvl="1"/>
            <a:r>
              <a:rPr i="1"/>
              <a:t>Well-integrated</a:t>
            </a:r>
            <a:r>
              <a:rPr/>
              <a:t>: services have interfaces enabling a frictionless composition;</a:t>
            </a:r>
          </a:p>
          <a:p>
            <a:pPr lvl="1"/>
            <a:r>
              <a:rPr i="1"/>
              <a:t>End-to-end</a:t>
            </a:r>
            <a:r>
              <a:rPr/>
              <a:t>: services cover the entire data life cycle.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 case study - The Agritech PNRR Project</a:t>
            </a:r>
          </a:p>
          <a:p>
            <a:pPr lvl="0"/>
            <a:r>
              <a:rPr b="1"/>
              <a:t>Goal</a:t>
            </a:r>
            <a:r>
              <a:rPr/>
              <a:t>: Build a data platform to Foster collaboration and integration between different agriculture research projects.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In short:</a:t>
            </a:r>
          </a:p>
          <a:p>
            <a:pPr lvl="1"/>
            <a:r>
              <a:rPr/>
              <a:t>6 research partners;</a:t>
            </a:r>
          </a:p>
          <a:p>
            <a:pPr lvl="1"/>
            <a:r>
              <a:rPr/>
              <a:t>highly heterogeneous data;</a:t>
            </a:r>
          </a:p>
          <a:p>
            <a:pPr lvl="1"/>
            <a:r>
              <a:rPr/>
              <a:t>different goals;</a:t>
            </a:r>
          </a:p>
          <a:p>
            <a:pPr lvl="0"/>
            <a:r>
              <a:rPr/>
              <a:t>Main challenges:</a:t>
            </a:r>
          </a:p>
          <a:p>
            <a:pPr lvl="1"/>
            <a:r>
              <a:rPr/>
              <a:t>Governance issues;</a:t>
            </a:r>
          </a:p>
          <a:p>
            <a:pPr lvl="1"/>
            <a:r>
              <a:rPr/>
              <a:t>Integration issues.</a:t>
            </a:r>
          </a:p>
        </p:txBody>
      </p:sp>
      <p:pic>
        <p:nvPicPr>
          <p:cNvPr descr="https://github.com/ManuelePasini/slides-markdown/blob/master/slides/images/dataplat_seminar/datamesh.jp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498600"/>
            <a:ext cx="4038600" cy="2273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Agritech project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On a hardware level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12 Nodes (and counting…)</a:t>
            </a:r>
          </a:p>
          <a:p>
            <a:pPr lvl="1"/>
            <a:r>
              <a:rPr/>
              <a:t>CPU 20 core w5-2445 @4.6 GHZ</a:t>
            </a:r>
          </a:p>
          <a:p>
            <a:pPr lvl="1"/>
            <a:r>
              <a:rPr/>
              <a:t>256 GB RAM</a:t>
            </a:r>
          </a:p>
          <a:p>
            <a:pPr lvl="1"/>
            <a:r>
              <a:rPr/>
              <a:t>12 TB HDD</a:t>
            </a:r>
          </a:p>
          <a:p>
            <a:pPr lvl="0"/>
            <a:r>
              <a:rPr/>
              <a:t>2 GPUs NVIDIA RTX 6000 Ada Generation</a:t>
            </a:r>
          </a:p>
          <a:p>
            <a:pPr lvl="0"/>
            <a:r>
              <a:rPr/>
              <a:t>1 Network File System (3 TB)</a:t>
            </a:r>
          </a:p>
        </p:txBody>
      </p:sp>
      <p:pic>
        <p:nvPicPr>
          <p:cNvPr descr="https://github.com/ManuelePasini/slides-markdown/blob/master/slides/images/dataplat_seminar/Slide5.jp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498600"/>
            <a:ext cx="4038600" cy="2273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Hardware architecture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On a hardware level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We don’t really want to work on bare metal…</a:t>
            </a:r>
          </a:p>
          <a:p>
            <a:pPr lvl="1"/>
            <a:r>
              <a:rPr/>
              <a:t>Need for fault tolerance mechanisms;</a:t>
            </a:r>
          </a:p>
          <a:p>
            <a:pPr lvl="1"/>
            <a:r>
              <a:rPr/>
              <a:t>Might face dependencies issues;</a:t>
            </a:r>
          </a:p>
          <a:p>
            <a:pPr lvl="0"/>
            <a:r>
              <a:rPr/>
              <a:t>… We want to </a:t>
            </a:r>
            <a:r>
              <a:rPr b="1"/>
              <a:t>virtualize</a:t>
            </a:r>
          </a:p>
          <a:p>
            <a:pPr lvl="1"/>
            <a:r>
              <a:rPr/>
              <a:t>remember the independence constraint.</a:t>
            </a:r>
          </a:p>
          <a:p>
            <a:pPr lvl="0"/>
            <a:r>
              <a:rPr b="1"/>
              <a:t>Docker Swarm</a:t>
            </a:r>
            <a:r>
              <a:rPr/>
              <a:t> !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Hardware + Docker architecture</a:t>
            </a:r>
          </a:p>
          <a:p>
            <a:pPr lvl="0" indent="0" marL="0">
              <a:buNone/>
            </a:pPr>
            <a:r>
              <a:rPr/>
              <a:t>Hardware + Docker architecture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 Docker overview</a:t>
            </a:r>
          </a:p>
          <a:p>
            <a:pPr lvl="0"/>
            <a:r>
              <a:rPr/>
              <a:t>Differences between containers and virtual machines…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4038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9300"/>
                <a:gridCol w="20193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Containers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Virtual Machines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Share host operating system kernel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Each VM includes a full guest operating system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Fast startup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Slower startup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Logical isolation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Strong isolation via hypervisor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Easy scalability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More complex to scale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High workload density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Lower density due to higher resource consumption</a:t>
                      </a:r>
                    </a:p>
                  </a:txBody>
                </a:tc>
              </a:tr>
            </a:tbl>
          </a:graphicData>
        </a:graphic>
      </p:graphicFrame>
      <p:pic>
        <p:nvPicPr>
          <p:cNvPr descr="https://github.com/ManuelePasini/slides-markdown/blob/master/slides/images/dataplat_seminar/virtualization.jp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612900"/>
            <a:ext cx="4038600" cy="2044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Container vs. Virtual Machines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46</Words>
  <Application>Microsoft Office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Helvetica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2025-12-05T16:02:20Z</dcterms:created>
  <dcterms:modified xsi:type="dcterms:W3CDTF">2025-12-05T16:02:20Z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toc-title">
    <vt:lpwstr>Table of contents</vt:lpwstr>
  </property>
</Properties>
</file>