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svg" ContentType="image/svg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204"/>
          <a:sy d="100" n="204"/>
        </p:scale>
        <p:origin x="488" y="11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28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>
            <a:lvl1pPr algn="l">
              <a:defRPr sz="2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00">
          <a:solidFill>
            <a:schemeClr val="tx1"/>
          </a:solidFill>
          <a:latin charset="0" panose="020B0604020202020204" pitchFamily="34" typeface="Helvetica"/>
          <a:ea typeface="+mj-ea"/>
          <a:cs charset="0" panose="020B0604020202020204" pitchFamily="34" typeface="Helvetica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6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6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2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1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1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big.csr.unibo.it/" TargetMode="Externa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agritechcenter.it/it/" TargetMode="External" /><Relationship Id="rId3" Type="http://schemas.openxmlformats.org/officeDocument/2006/relationships/hyperlink" Target="https://big.csr.unibo.it/projects/smarter/" TargetMode="External" /><Relationship Id="rId4" Type="http://schemas.openxmlformats.org/officeDocument/2006/relationships/hyperlink" Target="https://www.sciencedirect.com/journal/computers-and-electronics-in-agriculture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5.png" /><Relationship Id="rId2" Type="http://schemas.openxmlformats.org/officeDocument/2006/relationships/image" Target="../media/image4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espri.com/it-IT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7.svg" /><Relationship Id="rId2" Type="http://schemas.openxmlformats.org/officeDocument/2006/relationships/image" Target="../media/image6.sv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hyperlink" Target="https://www.fiware.org/" TargetMode="External" /><Relationship Id="rId2" Type="http://schemas.openxmlformats.org/officeDocument/2006/relationships/image" Target="../media/image8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0.svg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hyperlink" Target="https://vldb.org/2026/" TargetMode="External" /><Relationship Id="rId2" Type="http://schemas.openxmlformats.org/officeDocument/2006/relationships/image" Target="../media/image11.sv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Architectures and Methods for Digital Twin Platforms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Manuele Pasini</a:t>
            </a:r>
            <a:r>
              <a:rPr/>
              <a:t>, Student ID: 0001129119</a:t>
            </a:r>
          </a:p>
          <a:p>
            <a:pPr lvl="1"/>
            <a:r>
              <a:rPr>
                <a:hlinkClick r:id="rId2"/>
              </a:rPr>
              <a:t>Business Intelligence Group</a:t>
            </a:r>
          </a:p>
          <a:p>
            <a:pPr lvl="1"/>
            <a:r>
              <a:rPr/>
              <a:t>Supervisor: Prof. Matteo Golfarelli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to Digital Twins</a:t>
            </a:r>
          </a:p>
          <a:p>
            <a:pPr lvl="0"/>
            <a:r>
              <a:rPr/>
              <a:t>Still a buzzword, but enclosing on a definition…</a:t>
            </a:r>
          </a:p>
          <a:p>
            <a:pPr lvl="0"/>
            <a:r>
              <a:rPr/>
              <a:t>Four key components: physical model, virtual model, data, and communication services.</a:t>
            </a:r>
          </a:p>
          <a:p>
            <a:pPr lvl="0"/>
            <a:r>
              <a:rPr/>
              <a:t>Mostly standalone, application-oriented systems with limited or none interoperability, in both data and processes.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github.com/ManuelePasini/slides-markdown/blob/master/slides/images/dt/twin_model_shadow.pn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11300"/>
            <a:ext cx="4038600" cy="2235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Differences between twins</a:t>
            </a:r>
          </a:p>
        </p:txBody>
      </p:sp>
      <p:pic>
        <p:nvPicPr>
          <p:cNvPr descr="https://github.com/ManuelePasini/slides-markdown/blob/master/slides/images/dt/dt.png?raw=true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422400"/>
            <a:ext cx="4038600" cy="243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DT components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Introduction to Digital Twins</a:t>
            </a:r>
          </a:p>
          <a:p>
            <a:pPr lvl="0"/>
            <a:r>
              <a:rPr/>
              <a:t>The role of data as a core component in Digital Twins is increasingly recognized…</a:t>
            </a:r>
          </a:p>
          <a:p>
            <a:pPr lvl="0"/>
            <a:r>
              <a:rPr/>
              <a:t>… yet it is often overlooked in research contributions.</a:t>
            </a:r>
          </a:p>
          <a:p>
            <a:pPr lvl="0"/>
            <a:r>
              <a:rPr/>
              <a:t>Some reference models are emerging (e.g., Fei Tao, Univ. of Beijing).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github.com/ManuelePasini/slides-markdown/blob/master/slides/images/dt/5dim.pn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35100"/>
            <a:ext cx="4038600" cy="2413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5-Dimensional DT (Fei, Tao 2020)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However…</a:t>
            </a:r>
          </a:p>
          <a:p>
            <a:pPr lvl="1"/>
            <a:r>
              <a:rPr/>
              <a:t>Each solution is independent in both data modelling and semantics;</a:t>
            </a:r>
          </a:p>
          <a:p>
            <a:pPr lvl="1"/>
            <a:r>
              <a:rPr/>
              <a:t>No interoperability between DTs, even when relying on the same data;</a:t>
            </a:r>
          </a:p>
          <a:p>
            <a:pPr lvl="1"/>
            <a:r>
              <a:rPr/>
              <a:t>Capabilities of DTs are thus limited.</a:t>
            </a:r>
          </a:p>
          <a:p>
            <a:pPr lvl="1"/>
            <a:r>
              <a:rPr b="1"/>
              <a:t>A standardization effort is required to foster integration.</a:t>
            </a:r>
          </a:p>
          <a:p>
            <a:pPr lvl="1"/>
            <a:r>
              <a:rPr b="1"/>
              <a:t>Standardization should begin at the data layer!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Digital Twin in Precision Agriculture</a:t>
            </a:r>
          </a:p>
          <a:p>
            <a:pPr lvl="0"/>
            <a:r>
              <a:rPr/>
              <a:t>Three year ongoing project (within PNRR - </a:t>
            </a:r>
            <a:r>
              <a:rPr>
                <a:hlinkClick r:id="rId2"/>
              </a:rPr>
              <a:t>Agritech</a:t>
            </a:r>
            <a:r>
              <a:rPr/>
              <a:t> Spoke 9) on precision irrigation of fruit orchards</a:t>
            </a:r>
          </a:p>
          <a:p>
            <a:pPr lvl="0"/>
            <a:r>
              <a:rPr/>
              <a:t>Demo available at </a:t>
            </a:r>
            <a:r>
              <a:rPr>
                <a:hlinkClick r:id="rId3"/>
              </a:rPr>
              <a:t>this link</a:t>
            </a:r>
          </a:p>
          <a:p>
            <a:pPr lvl="0"/>
            <a:r>
              <a:rPr/>
              <a:t>Paper submitted to </a:t>
            </a:r>
            <a:r>
              <a:rPr>
                <a:hlinkClick r:id="rId4"/>
              </a:rPr>
              <a:t>Computer and Electronics in Agriculture</a:t>
            </a:r>
            <a:r>
              <a:rPr/>
              <a:t> (September 2025).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github.com/ManuelePasini/slides-markdown/blob/master/slides/images/phd2ndyear/dt_agro.pn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01800"/>
            <a:ext cx="4038600" cy="1879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Soil moisture distribution within a monitored plant</a:t>
            </a:r>
          </a:p>
        </p:txBody>
      </p:sp>
      <p:pic>
        <p:nvPicPr>
          <p:cNvPr descr="https://github.com/ManuelePasini/slides-markdown/blob/master/slides/images/phd2ndyear/action_agro_dt.png?raw=true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270000"/>
            <a:ext cx="4038600" cy="2730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Example of controlling action to the physical entity - applying irrigation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Ongoing work</a:t>
            </a:r>
            <a:r>
              <a:rPr/>
              <a:t>: </a:t>
            </a:r>
            <a:r>
              <a:rPr>
                <a:hlinkClick r:id="rId2"/>
              </a:rPr>
              <a:t>ZESPRI</a:t>
            </a:r>
            <a:r>
              <a:rPr/>
              <a:t>, the world’s largest kiwifruit producer, has decided to undertake large-scale experimental implementation of the system for the 2026 irrigation season.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From application-oriented to domain-oriented</a:t>
            </a:r>
          </a:p>
          <a:p>
            <a:pPr lvl="0"/>
            <a:r>
              <a:rPr/>
              <a:t>The precision irrigation digital twin is still a standalone system with a tailored data model and semantics.</a:t>
            </a:r>
          </a:p>
          <a:p>
            <a:pPr lvl="0"/>
            <a:r>
              <a:rPr/>
              <a:t>Integration with different application in the agriculture domain is still limited…</a:t>
            </a:r>
          </a:p>
          <a:p>
            <a:pPr lvl="0"/>
            <a:r>
              <a:rPr b="1"/>
              <a:t>Research Question 1.</a:t>
            </a:r>
            <a:r>
              <a:rPr/>
              <a:t>: can we move from application-level DT to domain-level Digital Twin Platforms (DTP) that can facilitate the standardization and integration of DT applications?</a:t>
            </a:r>
          </a:p>
          <a:p>
            <a:pPr lvl="0"/>
            <a:r>
              <a:rPr/>
              <a:t>A first attempt was made within the agriculture domain: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raw.githubusercontent.com/ManuelePasini/slides-markdown/refs/heads/master/slides/images/phd2ndyear/agritech_dw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20800"/>
            <a:ext cx="4038600" cy="264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Precision agriculture UML data model, blue = domain level entities, green = application level entities</a:t>
            </a:r>
          </a:p>
        </p:txBody>
      </p:sp>
      <p:pic>
        <p:nvPicPr>
          <p:cNvPr descr="https://raw.githubusercontent.com/ManuelePasini/slides-markdown/refs/heads/master/slides/images/phd2ndyear/platform.sv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105400" y="1193800"/>
            <a:ext cx="3124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Component schema of the Agriculture Data Platform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Data Platform fostering collaboration between DTs</a:t>
            </a:r>
          </a:p>
          <a:p>
            <a:pPr lvl="0"/>
            <a:r>
              <a:rPr/>
              <a:t>Within Agritech - Spoke 3, a data platform fostering integration across research projects has been developed.</a:t>
            </a:r>
          </a:p>
          <a:p>
            <a:pPr lvl="0"/>
            <a:r>
              <a:rPr/>
              <a:t>When defining integration policies and standards, several recurrent data requirements were identified:</a:t>
            </a:r>
          </a:p>
          <a:p>
            <a:pPr lvl="1"/>
            <a:r>
              <a:rPr/>
              <a:t>Heterogeneous data: from structured to unstructured (including images).</a:t>
            </a:r>
          </a:p>
          <a:p>
            <a:pPr lvl="1"/>
            <a:r>
              <a:rPr/>
              <a:t>Interconnected data: capturing physical entities together with the IoT networks describing them.</a:t>
            </a:r>
          </a:p>
          <a:p>
            <a:pPr lvl="1"/>
            <a:r>
              <a:rPr/>
              <a:t>Temporal aspects: datasets often evolve as time series.</a:t>
            </a:r>
          </a:p>
          <a:p>
            <a:pPr lvl="1"/>
            <a:r>
              <a:rPr/>
              <a:t>Spatial aspects: data are often geo-referenced.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github.com/ManuelePasini/slides-markdown/blob/master/slides/images/phd2ndyear/agriplatform.pn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60500"/>
            <a:ext cx="4038600" cy="2349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Excerpt of the Agricolture Data Platform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aspects</a:t>
            </a:r>
          </a:p>
          <a:p>
            <a:pPr lvl="0"/>
            <a:r>
              <a:rPr/>
              <a:t>General purpose: supporting heterogeneous data through heterogeneous storage systems;</a:t>
            </a:r>
          </a:p>
          <a:p>
            <a:pPr lvl="0"/>
            <a:r>
              <a:rPr/>
              <a:t>Interoperable: Interoperable: integration and sharing via common data models (e.g., </a:t>
            </a:r>
            <a:r>
              <a:rPr>
                <a:hlinkClick r:id="rId3"/>
              </a:rPr>
              <a:t>FIWARE</a:t>
            </a:r>
            <a:r>
              <a:rPr/>
              <a:t>);</a:t>
            </a:r>
          </a:p>
          <a:p>
            <a:pPr lvl="0"/>
            <a:r>
              <a:rPr b="1"/>
              <a:t>Ongoing work</a:t>
            </a:r>
            <a:r>
              <a:rPr/>
              <a:t>: supporting and sharing data processes (e.g., donwload ESA images) and applications.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Modelling Digital Twin Data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DT data involve highly interconnected entities (e.g., a fruit tree and the IoT network describing it), suggesting the use of graph data layout for efficient modelling and querying…</a:t>
            </a:r>
          </a:p>
          <a:p>
            <a:pPr lvl="1"/>
            <a:r>
              <a:rPr/>
              <a:t>… yet, they struggle with such volume of data</a:t>
            </a:r>
          </a:p>
          <a:p>
            <a:pPr lvl="0"/>
            <a:r>
              <a:rPr/>
              <a:t>Time-Series storage systems efficiently manage large volumes of temporal data…</a:t>
            </a:r>
          </a:p>
          <a:p>
            <a:pPr lvl="1"/>
            <a:r>
              <a:rPr/>
              <a:t>… but fall short in capturing the complex inter-entity dynamics.</a:t>
            </a:r>
          </a:p>
          <a:p>
            <a:pPr lvl="0"/>
            <a:r>
              <a:rPr/>
              <a:t>Yet, no multi-store solution has yet achieved broad adoption in the literature.</a:t>
            </a:r>
          </a:p>
          <a:p>
            <a:pPr lvl="0"/>
            <a:r>
              <a:rPr b="1"/>
              <a:t>What about an hybrid data structure?</a:t>
            </a:r>
          </a:p>
        </p:txBody>
      </p:sp>
      <p:pic>
        <p:nvPicPr>
          <p:cNvPr descr="https://github.com/ManuelePasini/slides-markdown/blob/master/slides/images/phd2ndyear/agrigraph.png?raw=true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99000" y="1193800"/>
            <a:ext cx="3924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Graph representation of Precision Irrigation DT</a:t>
            </a:r>
          </a:p>
        </p:txBody>
      </p:sp>
      <p:pic>
        <p:nvPicPr>
          <p:cNvPr descr="https://raw.githubusercontent.com/ManuelePasini/slides-markdown/refs/heads/master/slides/images/phd2ndyear/agrits.sv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2019300"/>
            <a:ext cx="4038600" cy="123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Time-Series representation of Precision Irrigation DT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 Hybryd data structure enabling Digital Twin Data</a:t>
            </a:r>
          </a:p>
          <a:p>
            <a:pPr lvl="0"/>
            <a:r>
              <a:rPr/>
              <a:t>Combining the strength of Graph and Time-Series data layouts with a novel, hybrid data structure.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raw.githubusercontent.com/ManuelePasini/slides-markdown/refs/heads/master/slides/images/ioanninaSlides/dt_graph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295400"/>
            <a:ext cx="4038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Graph+TimeSeries Hybrid data model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A representative query workload has been designed, capturing the core of Digital Twin applications by integrating IoT, Time-Series, and Graph queries.</a:t>
            </a:r>
          </a:p>
          <a:p>
            <a:pPr lvl="0"/>
            <a:r>
              <a:rPr/>
              <a:t>The data structure has been implemented in Kotlin and benchmarked against state-of-the-art techniques, showing promising performance gains.</a:t>
            </a:r>
          </a:p>
          <a:p>
            <a:pPr lvl="0"/>
            <a:r>
              <a:rPr/>
              <a:t>The paper is curently under writing and to be submitted to </a:t>
            </a:r>
            <a:r>
              <a:rPr>
                <a:hlinkClick r:id="rId3"/>
              </a:rPr>
              <a:t>VLDB 2026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Future Work</a:t>
            </a:r>
          </a:p>
          <a:p>
            <a:pPr lvl="0"/>
            <a:r>
              <a:rPr/>
              <a:t>Efficient querying: The semantic capabilities of Large Language Models (LLMs) make them a compelling solution for managing the inherent complexity of transparent querying in hybrid storage environments.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Methodology aspects</a:t>
            </a:r>
          </a:p>
          <a:p>
            <a:pPr lvl="0"/>
            <a:r>
              <a:rPr/>
              <a:t>How can we efficiently deploy digital twin applications on a DTP?</a:t>
            </a:r>
          </a:p>
          <a:p>
            <a:pPr lvl="0"/>
            <a:r>
              <a:rPr/>
              <a:t>A digital twin application is essentially a sequence of data processes powering its functionalities.</a:t>
            </a:r>
          </a:p>
          <a:p>
            <a:pPr lvl="0"/>
            <a:r>
              <a:rPr/>
              <a:t>Even for experts and within cloud environments, identifying the right services enabling a data pipeline is far from trivial.</a:t>
            </a:r>
          </a:p>
          <a:p>
            <a:pPr lvl="0"/>
            <a:r>
              <a:rPr b="1"/>
              <a:t>Research question</a:t>
            </a:r>
            <a:r>
              <a:rPr/>
              <a:t>: given a data pipeline, can we define a methodology to identify the set of data platform services required to support it?</a:t>
            </a:r>
          </a:p>
          <a:p>
            <a:pPr lvl="0" indent="0" marL="0">
              <a:buNone/>
            </a:pPr>
            <a:r>
              <a:rPr/>
              <a:t>References:</a:t>
            </a:r>
          </a:p>
          <a:p>
            <a:pPr lvl="0" indent="0" marL="0">
              <a:buNone/>
            </a:pPr>
            <a:r>
              <a:rPr/>
              <a:t>Matteo Francia, Matteo Golfarelli, Manuele Pasini — Towards a Process-Driven Design of Data Platforms. In DOLAP, pp. 28–35, 2024.</a:t>
            </a:r>
          </a:p>
          <a:p>
            <a:pPr lvl="0" indent="0" marL="0">
              <a:buNone/>
            </a:pPr>
            <a:r>
              <a:rPr/>
              <a:t>Matteo Francia, Matteo Golfarelli, Manuele Pasini — Process-Driven Design of Cloud Data Platforms. Information Systems Journal, Manuscript No. INFOSYS-D-24-00444.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Other activities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Tutoring</a:t>
            </a:r>
          </a:p>
          <a:p>
            <a:pPr lvl="0"/>
            <a:r>
              <a:rPr/>
              <a:t>95631 - MACHINE LEARNING AND DATA MINING - 6 cfu (2023/2024)</a:t>
            </a:r>
          </a:p>
          <a:p>
            <a:pPr lvl="0"/>
            <a:r>
              <a:rPr/>
              <a:t>95631 - MACHINE LEARNING AND DATA MINING - 6 cfu (2024/2025)</a:t>
            </a:r>
          </a:p>
          <a:p>
            <a:pPr lvl="0"/>
            <a:r>
              <a:rPr/>
              <a:t>95631 - MACHINE LEARNING AND DATA MINING - 6 cfu (2025/2026)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Summer schools</a:t>
            </a:r>
          </a:p>
          <a:p>
            <a:pPr lvl="0"/>
            <a:r>
              <a:rPr/>
              <a:t>6th ACM Europe Summer School on Data Science, Ioannina (Greece)</a:t>
            </a:r>
          </a:p>
          <a:p>
            <a:pPr lvl="1"/>
            <a:r>
              <a:rPr/>
              <a:t>Graph foundatons and Graph Data Science</a:t>
            </a:r>
          </a:p>
          <a:p>
            <a:pPr lvl="1"/>
            <a:r>
              <a:rPr/>
              <a:t>IoT Edge Computing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Conferences</a:t>
            </a:r>
          </a:p>
          <a:p>
            <a:pPr lvl="0"/>
            <a:r>
              <a:rPr/>
              <a:t>EDBT/ICDT 2024 Joint Conference</a:t>
            </a:r>
          </a:p>
          <a:p>
            <a:pPr lvl="0"/>
            <a:r>
              <a:rPr/>
              <a:t>SEBD 2024, 2025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External activities</a:t>
            </a:r>
          </a:p>
          <a:p>
            <a:pPr lvl="0"/>
            <a:r>
              <a:rPr/>
              <a:t>Teaching Relational Database, 30 hrs, ITS Olivetti (2023/2024)</a:t>
            </a:r>
          </a:p>
          <a:p>
            <a:pPr lvl="0"/>
            <a:r>
              <a:rPr/>
              <a:t>Teaching NoSQL Database, 30 hrs, ITS Olivetti (2024/2025)</a:t>
            </a:r>
          </a:p>
          <a:p>
            <a:pPr lvl="0"/>
            <a:r>
              <a:rPr/>
              <a:t>Teaching NoSQL Database, 30 hrs, ITS Olivetti (2025/2026)</a:t>
            </a:r>
          </a:p>
          <a:p>
            <a:pPr lvl="0"/>
            <a:r>
              <a:rPr/>
              <a:t>Consultancy on Digitalization in Precision Agriculture, iFarming s.r.l.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Bachelor Thesis advisor</a:t>
            </a:r>
          </a:p>
          <a:p>
            <a:pPr lvl="0"/>
            <a:r>
              <a:rPr/>
              <a:t>Denis Nikaj (Progettazione e prototipazione di un’applicazione web per l’irrigazione di precisione), March 2024.</a:t>
            </a:r>
          </a:p>
          <a:p>
            <a:pPr lvl="0"/>
            <a:r>
              <a:rPr/>
              <a:t>Davide Speziali (Progettazione e realizzazione di un simulatore per l’irrigazione di precisione), December 2024.</a:t>
            </a:r>
          </a:p>
          <a:p>
            <a:pPr lvl="0"/>
            <a:r>
              <a:rPr/>
              <a:t>Federico Capponi (Progettazione e prototipazione di un sistema di irrigazione di precisione), July 2025.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Helvetica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2025-11-20T09:15:21Z</dcterms:created>
  <dcterms:modified xsi:type="dcterms:W3CDTF">2025-11-20T09:15:21Z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