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 :::: {.columns} ::: {.column width=“50%”}</a:t>
            </a:r>
          </a:p>
        </p:txBody>
      </p:sp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::: ::: {.column width=“50%”}</a:t>
            </a:r>
          </a:p>
          <a:p>
            <a:pPr lvl="0"/>
            <a:r>
              <a:rPr/>
              <a:t>Nodes</a:t>
            </a:r>
          </a:p>
          <a:p>
            <a:pPr lvl="1"/>
            <a:r>
              <a:rPr/>
              <a:t>Graph node;</a:t>
            </a:r>
          </a:p>
          <a:p>
            <a:pPr lvl="1"/>
            <a:r>
              <a:rPr/>
              <a:t>Time-Series node;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(to a graph node);</a:t>
            </a:r>
          </a:p>
          <a:p>
            <a:pPr lvl="1"/>
            <a:r>
              <a:rPr/>
              <a:t>Virtual edge (to a Time-Series node)</a:t>
            </a:r>
          </a:p>
          <a:p>
            <a:pPr lvl="0" indent="0" marL="0">
              <a:buNone/>
            </a:pPr>
            <a:r>
              <a:rPr/>
              <a:t>::: ::::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BDMS ;</a:t>
            </a:r>
          </a:p>
          <a:p>
            <a:pPr lvl="1"/>
            <a:r>
              <a:rPr/>
              <a:t>LSM-Tree based data layout ;</a:t>
            </a:r>
          </a:p>
          <a:p>
            <a:pPr lvl="1"/>
            <a:r>
              <a:rPr/>
              <a:t>Native spatial capabilities ;</a:t>
            </a:r>
          </a:p>
          <a:p>
            <a:pPr lvl="1"/>
            <a:r>
              <a:rPr/>
              <a:t>Primary index on time dimension ;</a:t>
            </a:r>
          </a:p>
          <a:p>
            <a:pPr lvl="1"/>
            <a:r>
              <a:rPr/>
              <a:t>Secondary index on spatial dimension 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</a:t>
            </a:r>
          </a:p>
          <a:p>
            <a:pPr lvl="1"/>
            <a:r>
              <a:rPr/>
              <a:t>Temporal DFS, temporal feasibility check based on constraint tightening:</a:t>
            </a:r>
          </a:p>
          <a:p>
            <a:pPr lvl="1"/>
            <a:r>
              <a:rPr/>
              <a:t>[tAs, tAe) ∩ [tBs, tBe) ≠ ∅ ⇔ max(tAs, tBs) &lt; min(tAe, tBe)</a:t>
            </a:r>
          </a:p>
          <a:p>
            <a:pPr lvl="1"/>
            <a:r>
              <a:rPr/>
              <a:t>[tAs, tAe) ∩ [tBs, tBe) ≠ ∅ ⇔ max(tAs, tBs) &lt; min(tAe, tBe)</a:t>
            </a:r>
          </a:p>
          <a:p>
            <a:pPr lvl="1"/>
            <a:r>
              <a:rPr/>
              <a:t>Ia ∩ Ib ≠ ∅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 b="1"/>
              <a:t>GraphNode-TSNode</a:t>
            </a:r>
          </a:p>
          <a:p>
            <a:pPr lvl="1"/>
            <a:r>
              <a:rPr/>
              <a:t>Each time a traversal goes through a virtual edge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2025-11-20T14:51:29Z</dcterms:created>
  <dcterms:modified xsi:type="dcterms:W3CDTF">2025-11-20T14:51:29Z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