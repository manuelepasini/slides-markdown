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ink.springer.com/chapter/10.1007/978-3-031-21343-4_4" TargetMode="External" /><Relationship Id="rId3" Type="http://schemas.openxmlformats.org/officeDocument/2006/relationships/hyperlink" Target="https://www.scopus.com/pages/publications/85064443425" TargetMode="External" /><Relationship Id="rId5" Type="http://schemas.openxmlformats.org/officeDocument/2006/relationships/hyperlink" Target="https://link.springer.com/chapter/10.1007/978-3-031-21343-4_4" TargetMode="External" /><Relationship Id="rId4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www.scopus.com/pages/publications/85064443425" TargetMode="External" /><Relationship Id="rId5" Type="http://schemas.openxmlformats.org/officeDocument/2006/relationships/hyperlink" Target="https://digitaltwin1.org/articles/1-2/v2" TargetMode="External" /><Relationship Id="rId4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andfonline.com/doi/full/10.1080/27525783.2025.2600763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sv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Hi!</a:t>
            </a:r>
          </a:p>
          <a:p>
            <a:pPr lvl="1"/>
            <a:r>
              <a:rPr/>
              <a:t>Manuele Pasini, 3rd year Ph.D. Candidate</a:t>
            </a:r>
          </a:p>
          <a:p>
            <a:pPr lvl="1"/>
            <a:r>
              <a:rPr/>
              <a:t>Supervisor: Matteo Golfarelli</a:t>
            </a:r>
          </a:p>
          <a:p>
            <a:pPr lvl="1"/>
            <a:r>
              <a:rPr/>
              <a:t>Research interests:</a:t>
            </a:r>
          </a:p>
          <a:p>
            <a:pPr lvl="2"/>
            <a:r>
              <a:rPr/>
              <a:t>Database / Data Engineering</a:t>
            </a:r>
          </a:p>
          <a:p>
            <a:pPr lvl="2"/>
            <a:r>
              <a:rPr/>
              <a:t>Digital Twins &amp; Precisision Agriculture</a:t>
            </a:r>
          </a:p>
          <a:p>
            <a:pPr lvl="1"/>
            <a:r>
              <a:rPr/>
              <a:t>Thesis: Architectures and Methods for Digital Twin Platform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t/dt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4038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Digital Twin functional view</a:t>
            </a:r>
          </a:p>
        </p:txBody>
      </p:sp>
      <p:pic>
        <p:nvPicPr>
          <p:cNvPr descr="https://github.com/ManuelePasini/slides-markdown/blob/master/slides/images/phd3rdyear/dataplat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85900"/>
            <a:ext cx="4038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 example of a generic data platform with its components and layers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Twins: Concept &amp; State of the 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Digital Twin (DT): physical entity (PE) + virtual representation (VE), connected via </a:t>
            </a:r>
            <a:r>
              <a:rPr b="1"/>
              <a:t>bidirectional</a:t>
            </a:r>
            <a:r>
              <a:rPr/>
              <a:t> data flow</a:t>
            </a:r>
          </a:p>
          <a:p>
            <a:pPr lvl="0"/>
            <a:r>
              <a:rPr/>
              <a:t>Reference architectures:</a:t>
            </a:r>
          </a:p>
          <a:p>
            <a:pPr lvl="1"/>
            <a:r>
              <a:rPr/>
              <a:t>3D model (</a:t>
            </a:r>
            <a:r>
              <a:rPr>
                <a:hlinkClick r:id="rId2"/>
              </a:rPr>
              <a:t>M. Grieves</a:t>
            </a:r>
            <a:r>
              <a:rPr/>
              <a:t>)</a:t>
            </a:r>
          </a:p>
          <a:p>
            <a:pPr lvl="1"/>
            <a:r>
              <a:rPr/>
              <a:t>5D model (</a:t>
            </a:r>
            <a:r>
              <a:rPr>
                <a:hlinkClick r:id="rId3"/>
              </a:rPr>
              <a:t>Tao et al.</a:t>
            </a:r>
            <a:r>
              <a:rPr/>
              <a:t>): PE, VE, connection, data, service</a:t>
            </a:r>
          </a:p>
          <a:p>
            <a:pPr lvl="0"/>
            <a:r>
              <a:rPr b="1"/>
              <a:t>Data is not a by-product</a:t>
            </a:r>
            <a:r>
              <a:rPr/>
              <a:t> — it’s the component connecting every dimension</a:t>
            </a:r>
          </a:p>
        </p:txBody>
      </p:sp>
      <p:pic>
        <p:nvPicPr>
          <p:cNvPr descr="https://github.com/ManuelePasini/slides-markdown/blob/master/slides/images/dt/dt.png?raw=true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648200" y="1422400"/>
            <a:ext cx="4038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>
                <a:hlinkClick r:id="rId5"/>
              </a:rPr>
              <a:t>M. Grieves</a:t>
            </a:r>
            <a:r>
              <a:rPr/>
              <a:t> 3D 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t/5dim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35100"/>
            <a:ext cx="4038600" cy="241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5-Dimensional DT (</a:t>
            </a:r>
            <a:r>
              <a:rPr>
                <a:hlinkClick r:id="rId3"/>
              </a:rPr>
              <a:t>Tao et al.</a:t>
            </a:r>
            <a:r>
              <a:rPr/>
              <a:t>)</a:t>
            </a:r>
          </a:p>
        </p:txBody>
      </p:sp>
      <p:pic>
        <p:nvPicPr>
          <p:cNvPr descr="https://github.com/ManuelePasini/slides-markdown/blob/master/slides/images/dt/dt_data.png?raw=true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648200" y="1358900"/>
            <a:ext cx="4038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Characterizing Digital Twin data (</a:t>
            </a:r>
            <a:r>
              <a:rPr>
                <a:hlinkClick r:id="rId5"/>
              </a:rPr>
              <a:t>Fei, Tao 2023</a:t>
            </a:r>
            <a:r>
              <a:rPr/>
              <a:t>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Challenge: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Digital Twins adopted across many independent domains:</a:t>
            </a:r>
          </a:p>
          <a:p>
            <a:pPr lvl="1"/>
            <a:r>
              <a:rPr/>
              <a:t>manufacturing, energy, aerospace, healthcare, agriculture, smart cities, transportation…</a:t>
            </a:r>
          </a:p>
          <a:p>
            <a:pPr lvl="0"/>
            <a:r>
              <a:rPr/>
              <a:t>No universally accepted definition (</a:t>
            </a:r>
            <a:r>
              <a:rPr>
                <a:hlinkClick r:id="rId2"/>
              </a:rPr>
              <a:t>Wuni et al.</a:t>
            </a:r>
            <a:r>
              <a:rPr/>
              <a:t>: 358 definitions surveyed)</a:t>
            </a:r>
          </a:p>
          <a:p>
            <a:pPr lvl="0"/>
            <a:r>
              <a:rPr/>
              <a:t>Most application builds its own:</a:t>
            </a:r>
          </a:p>
          <a:p>
            <a:pPr lvl="1"/>
            <a:r>
              <a:rPr/>
              <a:t>architecture and technological stack</a:t>
            </a:r>
          </a:p>
          <a:p>
            <a:pPr lvl="1"/>
            <a:r>
              <a:rPr/>
              <a:t>data representation</a:t>
            </a:r>
          </a:p>
          <a:p>
            <a:pPr lvl="0"/>
            <a:r>
              <a:rPr/>
              <a:t>Result: isolated, application-specific Digital Twins </a:t>
            </a:r>
          </a:p>
          <a:p>
            <a:pPr lvl="1"/>
            <a:r>
              <a:rPr/>
              <a:t>data isolation</a:t>
            </a:r>
          </a:p>
          <a:p>
            <a:pPr lvl="1"/>
            <a:r>
              <a:rPr/>
              <a:t>architectural heterogeneity</a:t>
            </a:r>
          </a:p>
          <a:p>
            <a:pPr lvl="1"/>
            <a:r>
              <a:rPr/>
              <a:t>scalability issues</a:t>
            </a:r>
          </a:p>
          <a:p>
            <a:pPr lvl="0" indent="0" marL="0">
              <a:buNone/>
            </a:pPr>
            <a:r>
              <a:rPr b="1"/>
              <a:t>Fragmentation → limited standardization &amp; interoperability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Twin Platform: A Data-Oriented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Digital Twin is a data-intensive application</a:t>
            </a:r>
          </a:p>
          <a:p>
            <a:pPr lvl="0"/>
            <a:r>
              <a:rPr b="1"/>
              <a:t>Divide et impera</a:t>
            </a:r>
            <a:r>
              <a:rPr/>
              <a:t>: separate the software and data dimensions</a:t>
            </a:r>
          </a:p>
          <a:p>
            <a:pPr lvl="1"/>
            <a:r>
              <a:rPr/>
              <a:t>Software dimension → substantial work, increasingly mature</a:t>
            </a:r>
          </a:p>
          <a:p>
            <a:pPr lvl="1"/>
            <a:r>
              <a:rPr/>
              <a:t>Data dimension → far less mature ⇐ focus of my research</a:t>
            </a:r>
          </a:p>
          <a:p>
            <a:pPr lvl="0"/>
            <a:r>
              <a:rPr b="1"/>
              <a:t>Standardization should start from data</a:t>
            </a:r>
          </a:p>
          <a:p>
            <a:pPr lvl="0"/>
            <a:r>
              <a:rPr/>
              <a:t>Digital Twin Platform (DTP):</a:t>
            </a:r>
          </a:p>
          <a:p>
            <a:pPr lvl="1"/>
            <a:r>
              <a:rPr/>
              <a:t>hosts DTs across their lifecycle, but organized around data</a:t>
            </a:r>
          </a:p>
          <a:p>
            <a:pPr lvl="1"/>
            <a:r>
              <a:rPr/>
              <a:t>agnostic to how a DT is implemented — as long as it respects the platform’s data models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Prescriptive watering: Data-driven optimization of water consumption in kiwifruit orchards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STGraph: A Multistore for Spatio-Temporal Property Graphs and Time-Series Data . Under review @ VLDB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 multistore data structure for large spatio-temporal property graphs</a:t>
            </a:r>
          </a:p>
          <a:p>
            <a:pPr lvl="1"/>
            <a:r>
              <a:rPr/>
              <a:t>Graph data model on top of heterogeneous storage</a:t>
            </a:r>
          </a:p>
          <a:p>
            <a:pPr lvl="2"/>
            <a:r>
              <a:rPr/>
              <a:t>Low-evolving data on Graph storage</a:t>
            </a:r>
          </a:p>
          <a:p>
            <a:pPr lvl="2"/>
            <a:r>
              <a:rPr/>
              <a:t>Highly-dynamic data on Time-Series storage</a:t>
            </a:r>
          </a:p>
          <a:p>
            <a:pPr lvl="1"/>
            <a:r>
              <a:rPr/>
              <a:t>Transparent graph query interface.</a:t>
            </a:r>
          </a:p>
        </p:txBody>
      </p:sp>
      <p:pic>
        <p:nvPicPr>
          <p:cNvPr descr="https://github.com/ManuelePasini/slides-markdown/blob/master/slides/images/phd3rdyear/arch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33500"/>
            <a:ext cx="4038600" cy="260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STGraph System Architecture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phd3rdyear/datamodel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STGraph Data Model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STGraph: A Multistore for Spatio-Temporal Property Graphs and Time-Series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Property Graph data model:</a:t>
            </a:r>
          </a:p>
          <a:p>
            <a:pPr lvl="1"/>
            <a:r>
              <a:rPr/>
              <a:t>TS events (nodes) can hold edges and properties</a:t>
            </a:r>
          </a:p>
          <a:p>
            <a:pPr lvl="1"/>
            <a:r>
              <a:rPr/>
              <a:t>Edges built at query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Hybrid storage:</a:t>
            </a:r>
          </a:p>
          <a:p>
            <a:pPr lvl="1"/>
            <a:r>
              <a:rPr/>
              <a:t>Dedicated Time-Series streaming ingestion of data</a:t>
            </a:r>
          </a:p>
          <a:p>
            <a:pPr lvl="1"/>
            <a:r>
              <a:rPr/>
              <a:t>Query optimization through filter-pushdown</a:t>
            </a:r>
          </a:p>
          <a:p>
            <a:pPr lvl="1"/>
            <a:r>
              <a:rPr/>
              <a:t>Efficient graph traversal &amp; temporal reasoning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phd3rdyear/example.sv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Querying STGraph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Anomaly Detection in Complex Sensor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Complex sensor networks are increasingly common</a:t>
            </a:r>
          </a:p>
          <a:p>
            <a:pPr lvl="0"/>
            <a:r>
              <a:rPr/>
              <a:t>Anomaly detection in time-series data is a well-known research field</a:t>
            </a:r>
          </a:p>
          <a:p>
            <a:pPr lvl="0"/>
            <a:r>
              <a:rPr b="1"/>
              <a:t>What about anomalies that are cross-time series?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An example of cross-time series anomaly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An example of cross-time series anomaly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LLM-Assisted Metadata Query Answering on Data Warehouses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2026-09-16T07:53:16Z</dcterms:created>
  <dcterms:modified xsi:type="dcterms:W3CDTF">2026-09-16T07:53:16Z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