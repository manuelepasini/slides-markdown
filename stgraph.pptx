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svg" ContentType="image/svg+xml"/>
  <Override PartName="/docProps/app.xml" ContentType="application/vnd.openxmlformats-officedocument.extended-properties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204"/>
          <a:sy d="100" n="204"/>
        </p:scale>
        <p:origin x="488" y="112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10" Type="http://schemas.openxmlformats.org/officeDocument/2006/relationships/viewProps" Target="viewProps.xml" /><Relationship Id="rId9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12" Type="http://schemas.openxmlformats.org/officeDocument/2006/relationships/tableStyles" Target="tableStyles.xml" /><Relationship Id="rId11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>
            <a:normAutofit/>
          </a:bodyPr>
          <a:lstStyle>
            <a:lvl1pPr>
              <a:defRPr sz="2800">
                <a:latin typeface="Helvetica" panose="020B0604020202020204" pitchFamily="34" charset="0"/>
                <a:cs typeface="Helvetica" panose="020B0604020202020204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  <a:latin typeface="Helvetica" panose="020B0604020202020204" pitchFamily="34" charset="0"/>
                <a:cs typeface="Helvetica" panose="020B0604020202020204" pitchFamily="34" charset="0"/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latin typeface="Helvetica" panose="020B0604020202020204" pitchFamily="34" charset="0"/>
                <a:cs typeface="Helvetica" panose="020B0604020202020204" pitchFamily="34" charset="0"/>
              </a:defRPr>
            </a:lvl1pPr>
          </a:lstStyle>
          <a:p>
            <a:fld id="{241EB5C9-1307-BA42-ABA2-0BC069CD8E7F}" type="datetimeFigureOut">
              <a:rPr lang="en-US" smtClean="0"/>
              <a:pPr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latin typeface="Helvetica" panose="020B0604020202020204" pitchFamily="34" charset="0"/>
                <a:cs typeface="Helvetica" panose="020B0604020202020204" pitchFamily="34" charset="0"/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latin typeface="Helvetica" panose="020B0604020202020204" pitchFamily="34" charset="0"/>
                <a:cs typeface="Helvetica" panose="020B0604020202020204" pitchFamily="34" charset="0"/>
              </a:defRPr>
            </a:lvl1pPr>
          </a:lstStyle>
          <a:p>
            <a:fld id="{C5EF2332-01BF-834F-8236-50238282D533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>
            <a:normAutofit/>
          </a:bodyPr>
          <a:lstStyle>
            <a:lvl1pPr algn="l">
              <a:defRPr sz="20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>
            <a:normAutofit/>
          </a:bodyPr>
          <a:lstStyle>
            <a:lvl1pPr>
              <a:defRPr sz="1600"/>
            </a:lvl1pPr>
            <a:lvl2pPr>
              <a:defRPr sz="1200"/>
            </a:lvl2pPr>
            <a:lvl3pPr>
              <a:defRPr sz="1100"/>
            </a:lvl3pPr>
            <a:lvl4pPr>
              <a:defRPr sz="1050"/>
            </a:lvl4pPr>
            <a:lvl5pPr>
              <a:defRPr sz="10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>
            <a:normAutofit/>
          </a:bodyPr>
          <a:lstStyle>
            <a:lvl1pPr>
              <a:defRPr sz="1400"/>
            </a:lvl1pPr>
            <a:lvl2pPr>
              <a:defRPr sz="1100"/>
            </a:lvl2pPr>
            <a:lvl3pPr>
              <a:defRPr sz="1050"/>
            </a:lvl3pPr>
            <a:lvl4pPr>
              <a:defRPr sz="1000"/>
            </a:lvl4pPr>
            <a:lvl5pPr>
              <a:defRPr sz="10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>
            <a:normAutofit/>
          </a:bodyPr>
          <a:lstStyle>
            <a:lvl1pPr>
              <a:defRPr sz="1400"/>
            </a:lvl1pPr>
            <a:lvl2pPr>
              <a:defRPr sz="1200"/>
            </a:lvl2pPr>
            <a:lvl3pPr>
              <a:defRPr sz="1100"/>
            </a:lvl3pPr>
            <a:lvl4pPr>
              <a:defRPr sz="1050"/>
            </a:lvl4pPr>
            <a:lvl5pPr>
              <a:defRPr sz="105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>
            <a:normAutofit/>
          </a:bodyPr>
          <a:lstStyle>
            <a:lvl1pPr>
              <a:defRPr sz="1400"/>
            </a:lvl1pPr>
            <a:lvl2pPr>
              <a:defRPr sz="1200"/>
            </a:lvl2pPr>
            <a:lvl3pPr>
              <a:defRPr sz="1100"/>
            </a:lvl3pPr>
            <a:lvl4pPr>
              <a:defRPr sz="1050"/>
            </a:lvl4pPr>
            <a:lvl5pPr>
              <a:defRPr sz="105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dirty="0"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2000">
          <a:solidFill>
            <a:schemeClr val="tx1"/>
          </a:solidFill>
          <a:latin charset="0" panose="020B0604020202020204" pitchFamily="34" typeface="Helvetica"/>
          <a:ea typeface="+mj-ea"/>
          <a:cs charset="0" panose="020B0604020202020204" pitchFamily="34" typeface="Helvetica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1600">
          <a:solidFill>
            <a:schemeClr val="tx1"/>
          </a:solidFill>
          <a:latin charset="0" panose="020B0604020202020204" pitchFamily="34" typeface="Helvetica"/>
          <a:ea typeface="+mn-ea"/>
          <a:cs charset="0" panose="020B0604020202020204" pitchFamily="34" typeface="Helvetica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1600">
          <a:solidFill>
            <a:schemeClr val="tx1"/>
          </a:solidFill>
          <a:latin charset="0" panose="020B0604020202020204" pitchFamily="34" typeface="Helvetica"/>
          <a:ea typeface="+mn-ea"/>
          <a:cs charset="0" panose="020B0604020202020204" pitchFamily="34" typeface="Helvetica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200">
          <a:solidFill>
            <a:schemeClr val="tx1"/>
          </a:solidFill>
          <a:latin charset="0" panose="020B0604020202020204" pitchFamily="34" typeface="Helvetica"/>
          <a:ea typeface="+mn-ea"/>
          <a:cs charset="0" panose="020B0604020202020204" pitchFamily="34" typeface="Helvetica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100">
          <a:solidFill>
            <a:schemeClr val="tx1"/>
          </a:solidFill>
          <a:latin charset="0" panose="020B0604020202020204" pitchFamily="34" typeface="Helvetica"/>
          <a:ea typeface="+mn-ea"/>
          <a:cs charset="0" panose="020B0604020202020204" pitchFamily="34" typeface="Helvetica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100">
          <a:solidFill>
            <a:schemeClr val="tx1"/>
          </a:solidFill>
          <a:latin charset="0" panose="020B0604020202020204" pitchFamily="34" typeface="Helvetica"/>
          <a:ea typeface="+mn-ea"/>
          <a:cs charset="0" panose="020B0604020202020204" pitchFamily="34" typeface="Helvetica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.svg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STGraph - A spatio-temporal graph for time-series modelling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STGraph - Overview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Graph DBMSs</a:t>
            </a:r>
          </a:p>
          <a:p>
            <a:pPr lvl="1"/>
            <a:r>
              <a:rPr/>
              <a:t>Natively built on </a:t>
            </a:r>
            <a:r>
              <a:rPr b="1"/>
              <a:t>index-free adjacency principles</a:t>
            </a:r>
            <a:r>
              <a:rPr/>
              <a:t>;</a:t>
            </a:r>
          </a:p>
          <a:p>
            <a:pPr lvl="1"/>
            <a:r>
              <a:rPr/>
              <a:t>Optimized for high-performance entity traversal;</a:t>
            </a:r>
          </a:p>
          <a:p>
            <a:pPr lvl="1"/>
            <a:r>
              <a:rPr/>
              <a:t>Efficient on small-volume datasets .</a:t>
            </a:r>
          </a:p>
          <a:p>
            <a:pPr lvl="0"/>
            <a:r>
              <a:rPr/>
              <a:t>Time-Series DBMSs</a:t>
            </a:r>
          </a:p>
          <a:p>
            <a:pPr lvl="1"/>
            <a:r>
              <a:rPr/>
              <a:t>Natively built on </a:t>
            </a:r>
            <a:r>
              <a:rPr b="1"/>
              <a:t>Log-Structured Merge Tree</a:t>
            </a:r>
            <a:r>
              <a:rPr/>
              <a:t> based data structures;</a:t>
            </a:r>
          </a:p>
          <a:p>
            <a:pPr lvl="1"/>
            <a:r>
              <a:rPr/>
              <a:t>Optimized for high-throughput temporal ingestion and efficient management of time-ordered data;</a:t>
            </a:r>
          </a:p>
          <a:p>
            <a:pPr lvl="1"/>
            <a:r>
              <a:rPr/>
              <a:t>Efficient on large-volume datasets.</a:t>
            </a:r>
          </a:p>
          <a:p>
            <a:pPr lvl="0"/>
            <a:r>
              <a:rPr/>
              <a:t>Different data layouts imply different ingestion and workload capabilities…</a:t>
            </a:r>
          </a:p>
          <a:p>
            <a:pPr lvl="0"/>
            <a:r>
              <a:rPr/>
              <a:t>Yet many modern data-intensive applications combine both, e.g., IoT systems, Digital Twins, and pervasive computing.</a:t>
            </a:r>
          </a:p>
          <a:p>
            <a:pPr lvl="0"/>
            <a:r>
              <a:rPr b="1"/>
              <a:t>What about an hybrid data structure ?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STGraph - Conceptualization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RQ1</a:t>
            </a:r>
            <a:r>
              <a:rPr/>
              <a:t> - Can we separate data by temporal granularity to support hybrid modeling across time-series and temporal graph systems?</a:t>
            </a:r>
          </a:p>
          <a:p>
            <a:pPr lvl="0"/>
            <a:r>
              <a:rPr b="1"/>
              <a:t>RQ2</a:t>
            </a:r>
            <a:r>
              <a:rPr/>
              <a:t> - If so, can we embed two different data-layout into the same conceptual storage system and provide hybrid capabilities?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https://raw.githubusercontent.com/ManuelePasini/slides-markdown/refs/heads/master/slides/images/stgraph/STGraph.sv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57200" y="1295400"/>
            <a:ext cx="4038600" cy="2692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57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Graph+TimeSeries Hybrid data model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/>
            <a:r>
              <a:rPr/>
              <a:t>Nodes</a:t>
            </a:r>
          </a:p>
          <a:p>
            <a:pPr lvl="1"/>
            <a:r>
              <a:rPr/>
              <a:t>Graph node  ;</a:t>
            </a:r>
          </a:p>
          <a:p>
            <a:pPr lvl="1"/>
            <a:r>
              <a:rPr/>
              <a:t>Time-Series node  ;</a:t>
            </a:r>
          </a:p>
          <a:p>
            <a:pPr lvl="0"/>
            <a:r>
              <a:rPr/>
              <a:t>Edges</a:t>
            </a:r>
          </a:p>
          <a:p>
            <a:pPr lvl="1"/>
            <a:r>
              <a:rPr/>
              <a:t>Graph edge  &lt;–&gt; </a:t>
            </a:r>
          </a:p>
          <a:p>
            <a:pPr lvl="1"/>
            <a:r>
              <a:rPr/>
              <a:t>Virtual edge  &lt;–&gt; 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STGraph - Implementation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Implemented in Kotlin.</a:t>
            </a:r>
          </a:p>
          <a:p>
            <a:pPr lvl="0"/>
            <a:r>
              <a:rPr b="1"/>
              <a:t>Graph data layout</a:t>
            </a:r>
          </a:p>
          <a:p>
            <a:pPr lvl="1"/>
            <a:r>
              <a:rPr/>
              <a:t>Index-free adjacency through fixed-size records stored in nodes, edges, and property files.</a:t>
            </a:r>
          </a:p>
          <a:p>
            <a:pPr lvl="1"/>
            <a:r>
              <a:rPr/>
              <a:t>Properties/edges represented as linked chain of pointers;</a:t>
            </a:r>
          </a:p>
          <a:p>
            <a:pPr lvl="2"/>
            <a:r>
              <a:rPr/>
              <a:t>values &gt; 8 bytes (e.g. strings, geometries) stored in dynamic storage (RocksDB);</a:t>
            </a:r>
          </a:p>
          <a:p>
            <a:pPr lvl="1"/>
            <a:r>
              <a:rPr/>
              <a:t>Time attribute as first citizen;</a:t>
            </a:r>
          </a:p>
          <a:p>
            <a:pPr lvl="0"/>
            <a:r>
              <a:rPr b="1"/>
              <a:t>Time-Series data layout</a:t>
            </a:r>
          </a:p>
          <a:p>
            <a:pPr lvl="1"/>
            <a:r>
              <a:rPr/>
              <a:t>Implemented through AsterixDB (LSM-Tree based);</a:t>
            </a:r>
          </a:p>
          <a:p>
            <a:pPr lvl="1"/>
            <a:r>
              <a:rPr/>
              <a:t>Native spatial capabilities;</a:t>
            </a:r>
          </a:p>
          <a:p>
            <a:pPr lvl="1"/>
            <a:r>
              <a:rPr/>
              <a:t>Primary index on time and secondary index on space;</a:t>
            </a:r>
          </a:p>
          <a:p>
            <a:pPr lvl="1"/>
            <a:r>
              <a:rPr/>
              <a:t>Properties/outgoing edges stored as “fat” graph properties.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STGraph - Operations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Search algorithm: temporal DFS, temporal validity through constraint tightening:</a:t>
            </a:r>
          </a:p>
          <a:p>
            <a:pPr lvl="1"/>
            <a:r>
              <a:rPr/>
              <a:t>isValid(Path(ni, …, nk)) ⇔ ⋂j=i..k-1 Ie(nj,nj+1) ≠ ∅, I = validityInterval(n)</a:t>
            </a:r>
          </a:p>
          <a:p>
            <a:pPr lvl="0"/>
            <a:r>
              <a:rPr/>
              <a:t>Querying STGraph:</a:t>
            </a:r>
          </a:p>
          <a:p>
            <a:pPr lvl="1"/>
            <a:r>
              <a:rPr/>
              <a:t>Executed in three iterative steps:</a:t>
            </a:r>
          </a:p>
          <a:p>
            <a:pPr lvl="2"/>
            <a:r>
              <a:rPr/>
              <a:t>Path exploration through DFS;</a:t>
            </a:r>
          </a:p>
          <a:p>
            <a:pPr lvl="2"/>
            <a:r>
              <a:rPr/>
              <a:t>Path materialization: if exploring a virtual edge, materialize its virtual nodes;</a:t>
            </a:r>
          </a:p>
          <a:p>
            <a:pPr lvl="2"/>
            <a:r>
              <a:rPr/>
              <a:t>Query solving.</a:t>
            </a:r>
          </a:p>
          <a:p>
            <a:pPr lvl="1"/>
            <a:r>
              <a:rPr/>
              <a:t>Materializing a virtual node:</a:t>
            </a:r>
          </a:p>
          <a:p>
            <a:pPr lvl="2"/>
            <a:r>
              <a:rPr/>
              <a:t>Each virtual edge traversal entails a temporal query to AsterixDB;</a:t>
            </a:r>
          </a:p>
          <a:p>
            <a:pPr lvl="2"/>
            <a:r>
              <a:rPr/>
              <a:t>Output tuples are materialized as virtual nodes and connected within the graph.</a:t>
            </a:r>
          </a:p>
          <a:p>
            <a:pPr lvl="1"/>
            <a:r>
              <a:rPr/>
              <a:t>Optimizations</a:t>
            </a:r>
          </a:p>
          <a:p>
            <a:pPr lvl="2"/>
            <a:r>
              <a:rPr/>
              <a:t>Naive nested-Loop join strategy;</a:t>
            </a:r>
          </a:p>
          <a:p>
            <a:pPr lvl="2"/>
            <a:r>
              <a:rPr/>
              <a:t>Support for filter pushdown to AsterixDB;</a:t>
            </a:r>
          </a:p>
          <a:p>
            <a:pPr lvl="2"/>
            <a:r>
              <a:rPr/>
              <a:t>Support for spatial join/filtering operations (e.g., ST_INTERSECTS).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Limitations and Future works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As of today</a:t>
            </a:r>
          </a:p>
          <a:p>
            <a:pPr lvl="1"/>
            <a:r>
              <a:rPr/>
              <a:t>No support for cross time-series operations .</a:t>
            </a:r>
          </a:p>
          <a:p>
            <a:pPr lvl="1"/>
            <a:r>
              <a:rPr/>
              <a:t>Query to AsterixDB block path traversal algorithm (could by asynchronous)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</TotalTime>
  <Words>46</Words>
  <Application>Microsoft Office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8" baseType="lpstr">
      <vt:lpstr>Arial</vt:lpstr>
      <vt:lpstr>Calibri</vt:lpstr>
      <vt:lpstr>Helvetica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cp:keywords/>
  <dcterms:created xsi:type="dcterms:W3CDTF">2025-11-21T07:54:47Z</dcterms:created>
  <dcterms:modified xsi:type="dcterms:W3CDTF">2025-11-21T07:54:47Z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biblio-config">
    <vt:lpwstr>True</vt:lpwstr>
  </property>
  <property fmtid="{D5CDD505-2E9C-101B-9397-08002B2CF9AE}" pid="3" name="header-includes">
    <vt:lpwstr/>
  </property>
  <property fmtid="{D5CDD505-2E9C-101B-9397-08002B2CF9AE}" pid="4" name="include-after">
    <vt:lpwstr/>
  </property>
  <property fmtid="{D5CDD505-2E9C-101B-9397-08002B2CF9AE}" pid="5" name="include-before">
    <vt:lpwstr/>
  </property>
  <property fmtid="{D5CDD505-2E9C-101B-9397-08002B2CF9AE}" pid="6" name="labels">
    <vt:lpwstr/>
  </property>
  <property fmtid="{D5CDD505-2E9C-101B-9397-08002B2CF9AE}" pid="7" name="toc-title">
    <vt:lpwstr>Table of contents</vt:lpwstr>
  </property>
</Properties>
</file>