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Default Extension="shtml" ContentType="text/html; charset=utf-8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iencedirect.com/journal/computers-and-electronics-in-agriculture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6.png" /><Relationship Id="rId2" Type="http://schemas.openxmlformats.org/officeDocument/2006/relationships/image" Target="../media/image5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8.svg" /><Relationship Id="rId2" Type="http://schemas.openxmlformats.org/officeDocument/2006/relationships/image" Target="../media/image7.sv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svg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vldb.org/2027/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2.svg" /><Relationship Id="rId2" Type="http://schemas.openxmlformats.org/officeDocument/2006/relationships/image" Target="../media/image11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6.svg" /><Relationship Id="rId2" Type="http://schemas.openxmlformats.org/officeDocument/2006/relationships/image" Target="../media/image15.sv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17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18.sv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19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0.sv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1.sv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rxiv.org/abs/2207.12208" TargetMode="Externa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3.shtml" /><Relationship Id="rId2" Type="http://schemas.openxmlformats.org/officeDocument/2006/relationships/image" Target="../media/image22.sht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4.sv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dexa.org/2026/dawak2026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dimension → far less mature ⇐ focus of my research</a:t>
            </a:r>
          </a:p>
          <a:p>
            <a:pPr lvl="0"/>
            <a:r>
              <a:rPr b="1"/>
              <a:t>Standardization should start from data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Published in </a:t>
            </a:r>
            <a:r>
              <a:rPr>
                <a:hlinkClick r:id="rId2"/>
              </a:rPr>
              <a:t>Computers and Electronics in Agriculture</a:t>
            </a:r>
          </a:p>
          <a:p>
            <a:pPr lvl="0"/>
            <a:r>
              <a:rPr/>
              <a:t>Two kiwifiruit orchards in Emilia-Romagna</a:t>
            </a:r>
          </a:p>
          <a:p>
            <a:pPr lvl="0"/>
            <a:r>
              <a:rPr/>
              <a:t>Data collected from a grid of soil moisture sensors and weather stations</a:t>
            </a:r>
          </a:p>
          <a:p>
            <a:pPr lvl="0"/>
            <a:r>
              <a:rPr/>
              <a:t>Soil data is interpolated to obtain a 2-dimensional view of soil moisture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plan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Grid positioning</a:t>
            </a:r>
          </a:p>
        </p:txBody>
      </p:sp>
      <p:pic>
        <p:nvPicPr>
          <p:cNvPr descr="https://github.com/ManuelePasini/slides-markdown/blob/master/slides/images/phd3rdyear/moisture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82800"/>
            <a:ext cx="4038600" cy="110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From continuous humidity to a discrete representation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 Architecture</a:t>
            </a:r>
          </a:p>
          <a:p>
            <a:pPr lvl="1"/>
            <a:r>
              <a:rPr/>
              <a:t>Data collected and transformed through a Data Platform</a:t>
            </a:r>
          </a:p>
          <a:p>
            <a:pPr lvl="1"/>
            <a:r>
              <a:rPr/>
              <a:t>PID controller + simulation model to determine irrigaton amounts</a:t>
            </a:r>
          </a:p>
        </p:txBody>
      </p:sp>
      <p:pic>
        <p:nvPicPr>
          <p:cNvPr descr="https://github.com/ManuelePasini/slides-markdown/blob/master/slides/images/phd3rdyear/smart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89100"/>
            <a:ext cx="4038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overview of SMARTER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 Results</a:t>
            </a:r>
          </a:p>
          <a:p>
            <a:pPr lvl="1"/>
            <a:r>
              <a:rPr/>
              <a:t>Up to 40% in water savings</a:t>
            </a:r>
          </a:p>
          <a:p>
            <a:pPr lvl="1"/>
            <a:r>
              <a:rPr/>
              <a:t>Fruit quality preserved, smaller fruit but of improved quality</a:t>
            </a:r>
          </a:p>
        </p:txBody>
      </p:sp>
      <p:pic>
        <p:nvPicPr>
          <p:cNvPr descr="https://github.com/ManuelePasini/slides-markdown/blob/master/slides/images/phd3rdyear/smarter_results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y="1193800"/>
            <a:ext c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Smarter results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Beyond the research paper…</a:t>
            </a:r>
          </a:p>
          <a:p>
            <a:pPr lvl="1"/>
            <a:r>
              <a:rPr/>
              <a:t>13 companies</a:t>
            </a:r>
          </a:p>
          <a:p>
            <a:pPr lvl="1"/>
            <a:r>
              <a:rPr/>
              <a:t>over 30 fields</a:t>
            </a:r>
          </a:p>
          <a:p>
            <a:pPr lvl="1"/>
            <a:r>
              <a:rPr/>
              <a:t>over 60 soil moisture grics</a:t>
            </a:r>
          </a:p>
          <a:p>
            <a:pPr lvl="1"/>
            <a:r>
              <a:rPr/>
              <a:t>5 years of data collection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 Architecture</a:t>
            </a:r>
          </a:p>
          <a:p>
            <a:pPr lvl="1"/>
            <a:r>
              <a:rPr/>
              <a:t>Data collected and transformed through a Data Platform</a:t>
            </a:r>
          </a:p>
          <a:p>
            <a:pPr lvl="1"/>
            <a:r>
              <a:rPr/>
              <a:t>PID controller + simulation model to determine irrigaton amounts</a:t>
            </a:r>
          </a:p>
        </p:txBody>
      </p:sp>
      <p:pic>
        <p:nvPicPr>
          <p:cNvPr descr="https://github.com/ManuelePasini/slides-markdown/blob/master/slides/images/phd3rdyear/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SMARTER 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 Results</a:t>
            </a:r>
          </a:p>
          <a:p>
            <a:pPr lvl="1"/>
            <a:r>
              <a:rPr/>
              <a:t>Up to 40% in water savings</a:t>
            </a:r>
          </a:p>
          <a:p>
            <a:pPr lvl="1"/>
            <a:r>
              <a:rPr/>
              <a:t>Fruit quality preserved, smaller fruit but of improved quality</a:t>
            </a:r>
          </a:p>
        </p:txBody>
      </p:sp>
      <p:pic>
        <p:nvPicPr>
          <p:cNvPr descr="https://github.com/ManuelePasini/slides-markdown/blob/master/slides/images/phd3rdyear/smarter_graph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 more functional view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Currently under review at </a:t>
            </a:r>
            <a:r>
              <a:rPr>
                <a:hlinkClick r:id="rId2"/>
              </a:rPr>
              <a:t>53rd International Conference on Very Large Data Bases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multistore solution for large spatio-temporal property graphs</a:t>
            </a:r>
          </a:p>
          <a:p>
            <a:pPr lvl="1"/>
            <a:r>
              <a:rPr/>
              <a:t>Graph data model on top of heterogeneous storage</a:t>
            </a:r>
          </a:p>
          <a:p>
            <a:pPr lvl="2"/>
            <a:r>
              <a:rPr/>
              <a:t>Low-evolving data on Graph storage</a:t>
            </a:r>
          </a:p>
          <a:p>
            <a:pPr lvl="2"/>
            <a:r>
              <a:rPr/>
              <a:t>Highly-dynamic data on Time-Series storage</a:t>
            </a:r>
          </a:p>
          <a:p>
            <a:pPr lvl="1"/>
            <a:r>
              <a:rPr/>
              <a:t>Transparent graph query interface.</a:t>
            </a:r>
          </a:p>
        </p:txBody>
      </p:sp>
      <p:pic>
        <p:nvPicPr>
          <p:cNvPr descr="https://github.com/ManuelePasini/slides-markdown/blob/master/slides/images/phd3rdyear/datamode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Data Model</a:t>
            </a:r>
          </a:p>
        </p:txBody>
      </p:sp>
      <p:pic>
        <p:nvPicPr>
          <p:cNvPr descr="https://github.com/ManuelePasini/slides-markdown/blob/master/slides/images/phd3rdyear/arch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333500"/>
            <a:ext cx="4038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Architecture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Property Graph data model</a:t>
            </a:r>
          </a:p>
          <a:p>
            <a:pPr lvl="1"/>
            <a:r>
              <a:rPr/>
              <a:t>TS events (nodes) can hold edges and properties</a:t>
            </a:r>
          </a:p>
          <a:p>
            <a:pPr lvl="1"/>
            <a:r>
              <a:rPr/>
              <a:t>Edges built at query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Hybrid storage</a:t>
            </a:r>
          </a:p>
          <a:p>
            <a:pPr lvl="1"/>
            <a:r>
              <a:rPr/>
              <a:t>Dedicated Time-Series streaming ingestion of data</a:t>
            </a:r>
          </a:p>
          <a:p>
            <a:pPr lvl="1"/>
            <a:r>
              <a:rPr/>
              <a:t>Query optimization through filter-pushdown</a:t>
            </a:r>
          </a:p>
          <a:p>
            <a:pPr lvl="1"/>
            <a:r>
              <a:rPr/>
              <a:t>Efficient graph traversal &amp; temporal reasoning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Toy Example</a:t>
            </a:r>
          </a:p>
        </p:txBody>
      </p:sp>
      <p:pic>
        <p:nvPicPr>
          <p:cNvPr descr="https://github.com/ManuelePasini/slides-markdown/blob/master/slides/images/phd3rdyear/example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Querying STGraph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Results</a:t>
            </a:r>
          </a:p>
        </p:txBody>
      </p:sp>
      <p:pic>
        <p:nvPicPr>
          <p:cNvPr descr="https://github.com/ManuelePasini/slides-markdown/blob/master/slides/images/phd3rdyear/stgraph_results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y="1193800"/>
            <a:ext c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Ingestion and query results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Currently under development, in collaboration with Angela Bonifati @ Lyon1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Complex sensor networks are increasingly common (e.g., transportation networks)</a:t>
            </a:r>
          </a:p>
          <a:p>
            <a:pPr lvl="0"/>
            <a:r>
              <a:rPr/>
              <a:t>Anomaly detection in single time-series is a well-known research field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about topological anomalies?</a:t>
            </a:r>
          </a:p>
          <a:p>
            <a:pPr lvl="1"/>
            <a:r>
              <a:rPr/>
              <a:t>Normal behavior taken individually</a:t>
            </a:r>
          </a:p>
          <a:p>
            <a:pPr lvl="1"/>
            <a:r>
              <a:rPr/>
              <a:t>Topological context makes it anomalous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_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github.com/ManuelePasini/slides-markdown/blob/master/slides/images/phd3rdyear/n2g_agro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1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2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3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4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5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toy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anom_re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github.com/ManuelePasini/slides-markdown/blob/master/slides/images/phd3rdyear/anom_top2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real data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n2g_real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571500"/>
            <a:ext cx="5105400" cy="363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Published at </a:t>
            </a:r>
            <a:r>
              <a:rPr>
                <a:hlinkClick r:id="rId2"/>
              </a:rPr>
              <a:t>28th International Conference on Big Data Analytics and Knowledge Discovery (DAWAK)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2026-09-16T15:04:28Z</dcterms:created>
  <dcterms:modified xsi:type="dcterms:W3CDTF">2026-09-16T15:04:28Z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