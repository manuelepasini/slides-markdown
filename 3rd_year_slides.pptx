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iencedirect.com/journal/computers-and-electronics-in-agriculture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6.png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8.svg" /><Relationship Id="rId2" Type="http://schemas.openxmlformats.org/officeDocument/2006/relationships/image" Target="../media/image7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vldb.org/2027/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2.svg" /><Relationship Id="rId2" Type="http://schemas.openxmlformats.org/officeDocument/2006/relationships/image" Target="../media/image11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6.svg" /><Relationship Id="rId2" Type="http://schemas.openxmlformats.org/officeDocument/2006/relationships/image" Target="../media/image15.sv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17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18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19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0.sv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1.sv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2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4.svg" /><Relationship Id="rId2" Type="http://schemas.openxmlformats.org/officeDocument/2006/relationships/image" Target="../media/image23.sv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5.sv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dexa.org/2026/dawak2026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Published in </a:t>
            </a:r>
            <a:r>
              <a:rPr>
                <a:hlinkClick r:id="rId2"/>
              </a:rPr>
              <a:t>Computers and Electronics in Agriculture</a:t>
            </a:r>
          </a:p>
          <a:p>
            <a:pPr lvl="0"/>
            <a:r>
              <a:rPr/>
              <a:t>Two kiwifiruit orchards in Emilia-Romagna</a:t>
            </a:r>
          </a:p>
          <a:p>
            <a:pPr lvl="0"/>
            <a:r>
              <a:rPr/>
              <a:t>Data collected from a grid of soil moisture sensors and weather stations</a:t>
            </a:r>
          </a:p>
          <a:p>
            <a:pPr lvl="0"/>
            <a:r>
              <a:rPr/>
              <a:t>Soil data is interpolated to obtain a 2-dimensional view of soil moisture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plan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positioning</a:t>
            </a:r>
          </a:p>
        </p:txBody>
      </p:sp>
      <p:pic>
        <p:nvPicPr>
          <p:cNvPr descr="https://github.com/ManuelePasini/slides-markdown/blob/master/slides/images/phd3rdyear/moisture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82800"/>
            <a:ext cx="4038600" cy="110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continuous humidity to a discrete representation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 Architecture</a:t>
            </a:r>
          </a:p>
          <a:p>
            <a:pPr lvl="1"/>
            <a:r>
              <a:rPr/>
              <a:t>Data collected and transformed through a Data Platform</a:t>
            </a:r>
          </a:p>
          <a:p>
            <a:pPr lvl="1"/>
            <a:r>
              <a:rPr/>
              <a:t>PID controller + simulation model to determine irrigaton amounts</a:t>
            </a:r>
          </a:p>
        </p:txBody>
      </p:sp>
      <p:pic>
        <p:nvPicPr>
          <p:cNvPr descr="https://github.com/ManuelePasini/slides-markdown/blob/master/slides/images/phd3rdyear/smart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89100"/>
            <a:ext cx="4038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overview of SMARTER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 Results</a:t>
            </a:r>
          </a:p>
          <a:p>
            <a:pPr lvl="1"/>
            <a:r>
              <a:rPr/>
              <a:t>Up to 40% in water savings</a:t>
            </a:r>
          </a:p>
          <a:p>
            <a:pPr lvl="1"/>
            <a:r>
              <a:rPr/>
              <a:t>Fruit quality preserved, smaller fruit but of improved quality</a:t>
            </a:r>
          </a:p>
        </p:txBody>
      </p:sp>
      <p:pic>
        <p:nvPicPr>
          <p:cNvPr descr="https://github.com/ManuelePasini/slides-markdown/blob/master/slides/images/phd3rdyear/smarter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Smarter results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Beyond the research paper…</a:t>
            </a:r>
          </a:p>
          <a:p>
            <a:pPr lvl="1"/>
            <a:r>
              <a:rPr/>
              <a:t>13 companies</a:t>
            </a:r>
          </a:p>
          <a:p>
            <a:pPr lvl="1"/>
            <a:r>
              <a:rPr/>
              <a:t>over 30 fields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Growing, interconnected data</a:t>
            </a:r>
          </a:p>
          <a:p>
            <a:pPr lvl="1"/>
            <a:r>
              <a:rPr/>
              <a:t>over 60 soil moisture grids</a:t>
            </a:r>
          </a:p>
          <a:p>
            <a:pPr lvl="1"/>
            <a:r>
              <a:rPr/>
              <a:t>5 years of data collection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SMARTER ER</a:t>
            </a:r>
          </a:p>
        </p:txBody>
      </p:sp>
      <p:pic>
        <p:nvPicPr>
          <p:cNvPr descr="https://github.com/ManuelePasini/slides-markdown/blob/master/slides/images/phd3rdyear/smarter_grap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 more functional view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review at </a:t>
            </a:r>
            <a:r>
              <a:rPr>
                <a:hlinkClick r:id="rId2"/>
              </a:rPr>
              <a:t>53rd International Conference on Very Large Data Bases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solution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Architecture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Toy Example</a:t>
            </a:r>
          </a:p>
        </p:txBody>
      </p:sp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Results</a:t>
            </a:r>
          </a:p>
        </p:txBody>
      </p:sp>
      <p:pic>
        <p:nvPicPr>
          <p:cNvPr descr="https://github.com/ManuelePasini/slides-markdown/blob/master/slides/images/phd3rdyear/stgraph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Ingestion and query results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development, in collaboration with Angela Bonifati @ Lyon1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Complex sensor networks are increasingly common (e.g., transportation networks)</a:t>
            </a:r>
          </a:p>
          <a:p>
            <a:pPr lvl="0"/>
            <a:r>
              <a:rPr/>
              <a:t>Anomaly detection in single time-series is a well-known research field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about topological anomalies?</a:t>
            </a:r>
          </a:p>
          <a:p>
            <a:pPr lvl="1"/>
            <a:r>
              <a:rPr/>
              <a:t>Normal behavior taken individually</a:t>
            </a:r>
          </a:p>
          <a:p>
            <a:pPr lvl="1"/>
            <a:r>
              <a:rPr/>
              <a:t>Topological context makes it anomalous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1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2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3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4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5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toy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anom_real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295400"/>
            <a:ext cx="5105400" cy="219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/anom_top2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96900" y="1193800"/>
            <a:ext cx="3746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github.com/ManuelePasini/slides-markdown/blob/master/slides/images/phd3rdyear/n2g/anom_top1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87900" y="1193800"/>
            <a:ext cx="3746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real data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n2g_real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71500"/>
            <a:ext cx="5105400" cy="363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Published at </a:t>
            </a:r>
            <a:r>
              <a:rPr>
                <a:hlinkClick r:id="rId2"/>
              </a:rPr>
              <a:t>28th International Conference on Big Data Analytics and Knowledge Discovery (DAWAK)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2026-09-16T15:42:39Z</dcterms:created>
  <dcterms:modified xsi:type="dcterms:W3CDTF">2026-09-16T15:42:39Z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