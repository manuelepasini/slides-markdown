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STGraph - A spatio-temporal graph for time-series modelling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STGraph - Overview</a:t>
            </a:r>
          </a:p>
        </p:txBody>
      </p:sp>
      <p:sp>
        <p:nvSpPr>
          <p:cNvPr id="3" name="Content Placeholder 2"/>
          <p:cNvSpPr>
            <a:spLocks noGrp="1"/>
          </p:cNvSpPr>
          <p:nvPr>
            <p:ph idx="1"/>
          </p:nvPr>
        </p:nvSpPr>
        <p:spPr/>
        <p:txBody>
          <a:bodyPr/>
          <a:lstStyle/>
          <a:p>
            <a:pPr lvl="0"/>
            <a:r>
              <a:rPr/>
              <a:t>Graph DBMSs</a:t>
            </a:r>
          </a:p>
          <a:p>
            <a:pPr lvl="1"/>
            <a:r>
              <a:rPr/>
              <a:t>Natively built on </a:t>
            </a:r>
            <a:r>
              <a:rPr b="1"/>
              <a:t>index-free adjacency principles</a:t>
            </a:r>
            <a:r>
              <a:rPr/>
              <a:t>;</a:t>
            </a:r>
          </a:p>
          <a:p>
            <a:pPr lvl="1"/>
            <a:r>
              <a:rPr/>
              <a:t>Optimized for high-performance entity traversal;</a:t>
            </a:r>
          </a:p>
          <a:p>
            <a:pPr lvl="1"/>
            <a:r>
              <a:rPr/>
              <a:t>Efficient on small-volume datasets .</a:t>
            </a:r>
          </a:p>
          <a:p>
            <a:pPr lvl="0"/>
            <a:r>
              <a:rPr/>
              <a:t>Time-Series DBMSs</a:t>
            </a:r>
          </a:p>
          <a:p>
            <a:pPr lvl="1"/>
            <a:r>
              <a:rPr/>
              <a:t>Natively built on </a:t>
            </a:r>
            <a:r>
              <a:rPr b="1"/>
              <a:t>Log-Structured Merge Tree</a:t>
            </a:r>
            <a:r>
              <a:rPr/>
              <a:t> based data structures;</a:t>
            </a:r>
          </a:p>
          <a:p>
            <a:pPr lvl="1"/>
            <a:r>
              <a:rPr/>
              <a:t>Optimized for high-throughput temporal ingestion and efficient management of time-ordered data;</a:t>
            </a:r>
          </a:p>
          <a:p>
            <a:pPr lvl="1"/>
            <a:r>
              <a:rPr/>
              <a:t>Efficient on large-volume datasets.</a:t>
            </a:r>
          </a:p>
          <a:p>
            <a:pPr lvl="0"/>
            <a:r>
              <a:rPr/>
              <a:t>Different layouts ➔ different ingestion and workload capabilities…</a:t>
            </a:r>
          </a:p>
          <a:p>
            <a:pPr lvl="1"/>
            <a:r>
              <a:rPr/>
              <a:t>Yet many modern data-intensive applications combine both, e.g., IoT systems, Digital Twins, and pervasive computing.</a:t>
            </a:r>
          </a:p>
          <a:p>
            <a:pPr lvl="0"/>
            <a:r>
              <a:rPr b="1"/>
              <a:t>What about an hybrid data structure ?</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STGraph - Conceptualization</a:t>
            </a:r>
          </a:p>
        </p:txBody>
      </p:sp>
      <p:sp>
        <p:nvSpPr>
          <p:cNvPr id="3" name="Content Placeholder 2"/>
          <p:cNvSpPr>
            <a:spLocks noGrp="1"/>
          </p:cNvSpPr>
          <p:nvPr>
            <p:ph idx="1"/>
          </p:nvPr>
        </p:nvSpPr>
        <p:spPr/>
        <p:txBody>
          <a:bodyPr/>
          <a:lstStyle/>
          <a:p>
            <a:pPr lvl="0"/>
            <a:r>
              <a:rPr b="1"/>
              <a:t>RQ1</a:t>
            </a:r>
            <a:r>
              <a:rPr/>
              <a:t> - How can we separate, within a specific domain, temporal graph data from time-series data?</a:t>
            </a:r>
          </a:p>
          <a:p>
            <a:pPr lvl="0"/>
            <a:r>
              <a:rPr b="1"/>
              <a:t>RQ2</a:t>
            </a:r>
            <a:r>
              <a:rPr/>
              <a:t> - Can we then embed both data layouts into the same conceptual storage system and provide hybrid capabilities?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raw.githubusercontent.com/ManuelePasini/slides-markdown/refs/heads/master/slides/images/stgraph/STGraph.sv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Graph+TimeSeries Hybrid data model</a:t>
            </a:r>
          </a:p>
        </p:txBody>
      </p:sp>
      <p:sp>
        <p:nvSpPr>
          <p:cNvPr id="4" name="Content Placeholder 3"/>
          <p:cNvSpPr>
            <a:spLocks noGrp="1"/>
          </p:cNvSpPr>
          <p:nvPr>
            <p:ph idx="2" sz="half"/>
          </p:nvPr>
        </p:nvSpPr>
        <p:spPr/>
        <p:txBody>
          <a:bodyPr/>
          <a:lstStyle/>
          <a:p>
            <a:pPr lvl="0"/>
            <a:r>
              <a:rPr/>
              <a:t>Nodes</a:t>
            </a:r>
          </a:p>
          <a:p>
            <a:pPr lvl="1"/>
            <a:r>
              <a:rPr/>
              <a:t>Graph node  ;</a:t>
            </a:r>
          </a:p>
          <a:p>
            <a:pPr lvl="1"/>
            <a:r>
              <a:rPr/>
              <a:t>Time-Series node  ;</a:t>
            </a:r>
          </a:p>
          <a:p>
            <a:pPr lvl="0"/>
            <a:r>
              <a:rPr/>
              <a:t>Edges</a:t>
            </a:r>
          </a:p>
          <a:p>
            <a:pPr lvl="1"/>
            <a:r>
              <a:rPr/>
              <a:t>Graph edge  ⟺ </a:t>
            </a:r>
          </a:p>
          <a:p>
            <a:pPr lvl="1"/>
            <a:r>
              <a:rPr/>
              <a:t>Virtual edge  ⟺ </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STGraph - Implementation</a:t>
            </a:r>
          </a:p>
        </p:txBody>
      </p:sp>
      <p:sp>
        <p:nvSpPr>
          <p:cNvPr id="3" name="Content Placeholder 2"/>
          <p:cNvSpPr>
            <a:spLocks noGrp="1"/>
          </p:cNvSpPr>
          <p:nvPr>
            <p:ph idx="1"/>
          </p:nvPr>
        </p:nvSpPr>
        <p:spPr/>
        <p:txBody>
          <a:bodyPr/>
          <a:lstStyle/>
          <a:p>
            <a:pPr lvl="0"/>
            <a:r>
              <a:rPr/>
              <a:t>Implemented in Kotlin.</a:t>
            </a:r>
          </a:p>
          <a:p>
            <a:pPr lvl="0"/>
            <a:r>
              <a:rPr b="1"/>
              <a:t>Graph data layout</a:t>
            </a:r>
          </a:p>
          <a:p>
            <a:pPr lvl="1"/>
            <a:r>
              <a:rPr/>
              <a:t>Index-free adjacency through fixed-size records stored in node, edge, and property files.</a:t>
            </a:r>
          </a:p>
          <a:p>
            <a:pPr lvl="1"/>
            <a:r>
              <a:rPr/>
              <a:t>Properties/edges represented as linked chain of pointers;</a:t>
            </a:r>
          </a:p>
          <a:p>
            <a:pPr lvl="2"/>
            <a:r>
              <a:rPr/>
              <a:t>values &gt; 8 bytes (e.g. strings, geometries) stored in dynamic storage (RocksDB);</a:t>
            </a:r>
          </a:p>
          <a:p>
            <a:pPr lvl="1"/>
            <a:r>
              <a:rPr/>
              <a:t>Time attribute as first citizen;</a:t>
            </a:r>
          </a:p>
          <a:p>
            <a:pPr lvl="0"/>
            <a:r>
              <a:rPr b="1"/>
              <a:t>Time-Series data layout</a:t>
            </a:r>
          </a:p>
          <a:p>
            <a:pPr lvl="1"/>
            <a:r>
              <a:rPr/>
              <a:t>Implemented through AsterixDB (LSM-Tree based);</a:t>
            </a:r>
          </a:p>
          <a:p>
            <a:pPr lvl="1"/>
            <a:r>
              <a:rPr/>
              <a:t>Native spatial capabilities;</a:t>
            </a:r>
          </a:p>
          <a:p>
            <a:pPr lvl="1"/>
            <a:r>
              <a:rPr/>
              <a:t>Primary index on time and secondary index on space;</a:t>
            </a:r>
          </a:p>
          <a:p>
            <a:pPr lvl="1"/>
            <a:r>
              <a:rPr/>
              <a:t>Properties/outgoing edges stored as “fat” graph properties.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STGraph - Operations</a:t>
            </a:r>
          </a:p>
        </p:txBody>
      </p:sp>
      <p:sp>
        <p:nvSpPr>
          <p:cNvPr id="3" name="Content Placeholder 2"/>
          <p:cNvSpPr>
            <a:spLocks noGrp="1"/>
          </p:cNvSpPr>
          <p:nvPr>
            <p:ph idx="1" sz="half"/>
          </p:nvPr>
        </p:nvSpPr>
        <p:spPr/>
        <p:txBody>
          <a:bodyPr/>
          <a:lstStyle/>
          <a:p>
            <a:pPr lvl="0"/>
            <a:r>
              <a:rPr/>
              <a:t>Search algorithm: temporal DFS, temporal validity through constraint tightening:</a:t>
            </a:r>
          </a:p>
          <a:p>
            <a:pPr lvl="1"/>
            <a:r>
              <a:rPr/>
              <a:t>isValid(Path(ni, …, nk)) ⇔ ∩j=i..k-1 Ie(nj,nj+1) ≠ ∅, where Ie = [ta, tb[</a:t>
            </a:r>
          </a:p>
          <a:p>
            <a:pPr lvl="0"/>
            <a:r>
              <a:rPr/>
              <a:t>Querying STGraph:</a:t>
            </a:r>
          </a:p>
          <a:p>
            <a:pPr lvl="1"/>
            <a:r>
              <a:rPr/>
              <a:t>Executed in three steps:</a:t>
            </a:r>
          </a:p>
          <a:p>
            <a:pPr lvl="2"/>
            <a:r>
              <a:rPr/>
              <a:t>Search:</a:t>
            </a:r>
          </a:p>
          <a:p>
            <a:pPr lvl="3"/>
            <a:r>
              <a:rPr/>
              <a:t>Pattern matching through temporal DFS;</a:t>
            </a:r>
          </a:p>
          <a:p>
            <a:pPr lvl="3"/>
            <a:r>
              <a:rPr/>
              <a:t>Path instantiation: if exploring a virtual edge, instantiation its virtual nodes;</a:t>
            </a:r>
          </a:p>
          <a:p>
            <a:pPr lvl="3"/>
            <a:r>
              <a:rPr/>
              <a:t>Path Filtering: add path to solution if satisfies constraints.</a:t>
            </a:r>
          </a:p>
          <a:p>
            <a:pPr lvl="2"/>
            <a:r>
              <a:rPr/>
              <a:t>Temporal properties replacement;</a:t>
            </a:r>
          </a:p>
          <a:p>
            <a:pPr lvl="2"/>
            <a:r>
              <a:rPr/>
              <a:t>Aggregate/Join.</a:t>
            </a:r>
          </a:p>
        </p:txBody>
      </p:sp>
      <p:sp>
        <p:nvSpPr>
          <p:cNvPr id="4" name="Content Placeholder 3"/>
          <p:cNvSpPr>
            <a:spLocks noGrp="1"/>
          </p:cNvSpPr>
          <p:nvPr>
            <p:ph idx="2" sz="half"/>
          </p:nvPr>
        </p:nvSpPr>
        <p:spPr/>
        <p:txBody>
          <a:bodyPr/>
          <a:lstStyle/>
          <a:p>
            <a:pPr lvl="0"/>
            <a:r>
              <a:rPr/>
              <a:t>Instantiating a virtual node:</a:t>
            </a:r>
          </a:p>
          <a:p>
            <a:pPr lvl="1"/>
            <a:r>
              <a:rPr/>
              <a:t>Each virtual edge traversal entails a temporal query to AsterixDB;</a:t>
            </a:r>
          </a:p>
          <a:p>
            <a:pPr lvl="1"/>
            <a:r>
              <a:rPr/>
              <a:t>Output tuples are instantiated as in-memory nodes (dummy ID) and connected within the graph.</a:t>
            </a:r>
          </a:p>
          <a:p>
            <a:pPr lvl="0"/>
            <a:r>
              <a:rPr/>
              <a:t>Optimizations</a:t>
            </a:r>
          </a:p>
          <a:p>
            <a:pPr lvl="1"/>
            <a:r>
              <a:rPr/>
              <a:t>Support for join operations through naive nested-Loop join;</a:t>
            </a:r>
          </a:p>
          <a:p>
            <a:pPr lvl="1"/>
            <a:r>
              <a:rPr/>
              <a:t>Support for filter pushdown to AsterixDB;</a:t>
            </a:r>
          </a:p>
          <a:p>
            <a:pPr lvl="1"/>
            <a:r>
              <a:rPr/>
              <a:t>Support for spatial join/filtering operations (e.g., ST_INTERSECTS).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Future works</a:t>
            </a:r>
          </a:p>
        </p:txBody>
      </p:sp>
      <p:sp>
        <p:nvSpPr>
          <p:cNvPr id="3" name="Content Placeholder 2"/>
          <p:cNvSpPr>
            <a:spLocks noGrp="1"/>
          </p:cNvSpPr>
          <p:nvPr>
            <p:ph idx="1"/>
          </p:nvPr>
        </p:nvSpPr>
        <p:spPr/>
        <p:txBody>
          <a:bodyPr/>
          <a:lstStyle/>
          <a:p>
            <a:pPr lvl="0"/>
            <a:r>
              <a:rPr b="1"/>
              <a:t>As of today</a:t>
            </a:r>
          </a:p>
          <a:p>
            <a:pPr lvl="1"/>
            <a:r>
              <a:rPr/>
              <a:t>No support for cross time-series operations;</a:t>
            </a:r>
          </a:p>
          <a:p>
            <a:pPr lvl="1"/>
            <a:r>
              <a:rPr/>
              <a:t>Supporting only “long” values as TS measurements;</a:t>
            </a:r>
          </a:p>
          <a:p>
            <a:pPr lvl="1"/>
            <a:r>
              <a:rPr/>
              <a:t>Query to AsterixDB is synchronous (shouldn’t be);</a:t>
            </a:r>
          </a:p>
          <a:p>
            <a:pPr lvl="1"/>
            <a:r>
              <a:rPr/>
              <a:t>Limited support for AsterixDB capabilities;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Collaborations</a:t>
            </a:r>
          </a:p>
        </p:txBody>
      </p:sp>
      <p:sp>
        <p:nvSpPr>
          <p:cNvPr id="3" name="Content Placeholder 2"/>
          <p:cNvSpPr>
            <a:spLocks noGrp="1"/>
          </p:cNvSpPr>
          <p:nvPr>
            <p:ph idx="1"/>
          </p:nvPr>
        </p:nvSpPr>
        <p:spPr/>
        <p:txBody>
          <a:bodyPr/>
          <a:lstStyle/>
          <a:p>
            <a:pPr lvl="0"/>
            <a:r>
              <a:rPr/>
              <a:t>Physical level:</a:t>
            </a:r>
          </a:p>
          <a:p>
            <a:pPr lvl="1"/>
            <a:r>
              <a:rPr/>
              <a:t>TS data require different data layout than graph data;</a:t>
            </a:r>
          </a:p>
          <a:p>
            <a:pPr lvl="2"/>
            <a:r>
              <a:rPr/>
              <a:t>LSM-Tree-like (e.g., RocksDB)</a:t>
            </a:r>
          </a:p>
          <a:p>
            <a:pPr lvl="2"/>
            <a:r>
              <a:rPr/>
              <a:t>InfluxDB 3.0 on Parquet.</a:t>
            </a:r>
          </a:p>
          <a:p>
            <a:pPr lvl="1"/>
            <a:r>
              <a:rPr/>
              <a:t>Metadata modelling (custom metadata as a query);</a:t>
            </a:r>
          </a:p>
          <a:p>
            <a:pPr lvl="1"/>
            <a:r>
              <a:rPr/>
              <a:t>query formalization and optimization;</a:t>
            </a:r>
          </a:p>
          <a:p>
            <a:pPr lvl="0"/>
            <a:r>
              <a:rPr/>
              <a:t>Analytics:</a:t>
            </a:r>
          </a:p>
          <a:p>
            <a:pPr lvl="1"/>
            <a:r>
              <a:rPr/>
              <a:t>TS operators in Cypher/GQL (Graph analytics);</a:t>
            </a:r>
          </a:p>
          <a:p>
            <a:pPr lvl="2"/>
            <a:r>
              <a:rPr/>
              <a:t>shape-matching;</a:t>
            </a:r>
          </a:p>
          <a:p>
            <a:pPr lvl="1"/>
            <a:r>
              <a:rPr/>
              <a:t>Cross time-series operators:</a:t>
            </a:r>
          </a:p>
          <a:p>
            <a:pPr lvl="2"/>
            <a:r>
              <a:rPr/>
              <a:t>Dimmi piante/griglie che hanno avuto pattern asciugatura simili ultime 24h.</a:t>
            </a:r>
          </a:p>
          <a:p>
            <a:pPr lvl="2"/>
            <a:r>
              <a:rPr/>
              <a:t>Correlami con join spaziale asciugatura terreno piante e temperatura da centralina ARPAE.</a:t>
            </a:r>
          </a:p>
          <a:p>
            <a:pPr lvl="1"/>
            <a:r>
              <a:rPr/>
              <a:t>Graph-TS cross-operators:</a:t>
            </a:r>
          </a:p>
          <a:p>
            <a:pPr lvl="2"/>
            <a:r>
              <a:rPr/>
              <a:t>Come si è evoluta topologia grafo all’evolversi della ts?</a:t>
            </a:r>
          </a:p>
          <a:p>
            <a:pPr lvl="2"/>
            <a:r>
              <a:rPr/>
              <a:t>Correlare grado (o property) di un nodo e andamento di una TS (picco di connessione, picco di valore)</a:t>
            </a:r>
          </a:p>
          <a:p>
            <a:pPr lvl="3"/>
            <a:r>
              <a:rPr/>
              <a:t>e.g., rete di sensori monitora punti pressione frana, archi tra sensori modellato con hygraph con una property che aumenta il peso dell’arco tra due sensori vicini all’aumentare della pressione di uno dei due. cerca correlazione tra punti di pressione diversi nella frana.</a:t>
            </a:r>
          </a:p>
          <a:p>
            <a:pPr lvl="0"/>
            <a:r>
              <a:rPr/>
              <a:t>LLMs:</a:t>
            </a:r>
          </a:p>
          <a:p>
            <a:pPr lvl="1"/>
            <a:r>
              <a:rPr/>
              <a:t>Text to query (in hybrid data models)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2025-12-15T07:46:07Z</dcterms:created>
  <dcterms:modified xsi:type="dcterms:W3CDTF">2025-12-15T07:46:07Z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