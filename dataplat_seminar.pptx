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shtml" ContentType="text/html; charset=utf-8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jp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sht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jp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7.jp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jp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0.jp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- Under the hood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Manuele Pasini</a:t>
            </a:r>
          </a:p>
          <a:p>
            <a:pPr lvl="0" indent="0" marL="0">
              <a:buNone/>
            </a:pPr>
            <a:r>
              <a:rPr i="1"/>
              <a:t>manuele.pasini@unibo.it</a:t>
            </a:r>
          </a:p>
          <a:p>
            <a:pPr lvl="0" indent="0" marL="0">
              <a:buNone/>
            </a:pPr>
            <a:r>
              <a:rPr/>
              <a:t>09/12/2025</a:t>
            </a:r>
          </a:p>
          <a:p>
            <a:pPr lvl="0" indent="0" marL="0">
              <a:buNone/>
            </a:pP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Cloud Data Platform</a:t>
            </a:r>
          </a:p>
          <a:p>
            <a:pPr lvl="0"/>
            <a:r>
              <a:rPr/>
              <a:t>Is a </a:t>
            </a:r>
            <a:r>
              <a:rPr i="1"/>
              <a:t>centralized</a:t>
            </a:r>
            <a:r>
              <a:rPr/>
              <a:t> infrastructre composed of </a:t>
            </a:r>
            <a:r>
              <a:rPr i="1"/>
              <a:t>independent</a:t>
            </a:r>
            <a:r>
              <a:rPr/>
              <a:t> and </a:t>
            </a:r>
            <a:r>
              <a:rPr i="1"/>
              <a:t>well-integrated</a:t>
            </a:r>
            <a:r>
              <a:rPr/>
              <a:t> services meeting the </a:t>
            </a:r>
            <a:r>
              <a:rPr i="1"/>
              <a:t>end-to-end</a:t>
            </a:r>
            <a:r>
              <a:rPr/>
              <a:t> needs of data pipelines:</a:t>
            </a:r>
          </a:p>
          <a:p>
            <a:pPr lvl="1"/>
            <a:r>
              <a:rPr i="1"/>
              <a:t>Centralized</a:t>
            </a:r>
            <a:r>
              <a:rPr/>
              <a:t>: a data platform is conceptually a single and unified component;</a:t>
            </a:r>
          </a:p>
          <a:p>
            <a:pPr lvl="1"/>
            <a:r>
              <a:rPr i="1"/>
              <a:t>Independent</a:t>
            </a:r>
            <a:r>
              <a:rPr/>
              <a:t>: changes in a a service do not affect others;</a:t>
            </a:r>
          </a:p>
          <a:p>
            <a:pPr lvl="1"/>
            <a:r>
              <a:rPr i="1"/>
              <a:t>Well-integrated</a:t>
            </a:r>
            <a:r>
              <a:rPr/>
              <a:t>: services have interfaces enabling a frictionless composition;</a:t>
            </a:r>
          </a:p>
          <a:p>
            <a:pPr lvl="1"/>
            <a:r>
              <a:rPr i="1"/>
              <a:t>End-to-end</a:t>
            </a:r>
            <a:r>
              <a:rPr/>
              <a:t>: services cover the entire data life cycle.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case study - The Agritech PNRR Project</a:t>
            </a:r>
          </a:p>
          <a:p>
            <a:pPr lvl="0"/>
            <a:r>
              <a:rPr b="1"/>
              <a:t>Goal</a:t>
            </a:r>
            <a:r>
              <a:rPr/>
              <a:t>: Build a data platform to Foster collaboration and integration between different agriculture research projects.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short:</a:t>
            </a:r>
          </a:p>
          <a:p>
            <a:pPr lvl="1"/>
            <a:r>
              <a:rPr/>
              <a:t>6 research partners;</a:t>
            </a:r>
          </a:p>
          <a:p>
            <a:pPr lvl="1"/>
            <a:r>
              <a:rPr/>
              <a:t>highly heterogeneous data;</a:t>
            </a:r>
          </a:p>
          <a:p>
            <a:pPr lvl="1"/>
            <a:r>
              <a:rPr/>
              <a:t>different goals;</a:t>
            </a:r>
          </a:p>
          <a:p>
            <a:pPr lvl="0"/>
            <a:r>
              <a:rPr/>
              <a:t>Main challenges:</a:t>
            </a:r>
          </a:p>
          <a:p>
            <a:pPr lvl="1"/>
            <a:r>
              <a:rPr/>
              <a:t>Governance issues;</a:t>
            </a:r>
          </a:p>
          <a:p>
            <a:pPr lvl="1"/>
            <a:r>
              <a:rPr/>
              <a:t>Sharing issues.</a:t>
            </a:r>
          </a:p>
        </p:txBody>
      </p:sp>
      <p:pic>
        <p:nvPicPr>
          <p:cNvPr descr="https://github.com/ManuelePasini/slides-markdown/blob/master/slides/images/dataplat_seminar/datamesh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talk deploy!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12 Nodes (and counting…)</a:t>
            </a:r>
          </a:p>
          <a:p>
            <a:pPr lvl="1"/>
            <a:r>
              <a:rPr/>
              <a:t>CPU 20 core w5-2445 @4.6 GHZ</a:t>
            </a:r>
          </a:p>
          <a:p>
            <a:pPr lvl="1"/>
            <a:r>
              <a:rPr/>
              <a:t>256 GB RAM</a:t>
            </a:r>
          </a:p>
          <a:p>
            <a:pPr lvl="1"/>
            <a:r>
              <a:rPr/>
              <a:t>12 TB HDD</a:t>
            </a:r>
          </a:p>
          <a:p>
            <a:pPr lvl="0"/>
            <a:r>
              <a:rPr/>
              <a:t>2 GPUs NVIDIA RTX 6000 Ada Generation</a:t>
            </a:r>
          </a:p>
          <a:p>
            <a:pPr lvl="0"/>
            <a:r>
              <a:rPr/>
              <a:t>1 Network File System (3 TB)</a:t>
            </a:r>
          </a:p>
        </p:txBody>
      </p:sp>
      <p:pic>
        <p:nvPicPr>
          <p:cNvPr descr="https://github.com/ManuelePasini/slides-markdown/blob/master/slides/images/dataplat_seminar/Slide5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Hardware architecture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don’t really want to work on bare metal…</a:t>
            </a:r>
          </a:p>
          <a:p>
            <a:pPr lvl="1"/>
            <a:r>
              <a:rPr/>
              <a:t>Need for fault tolerance mechanisms;</a:t>
            </a:r>
          </a:p>
          <a:p>
            <a:pPr lvl="1"/>
            <a:r>
              <a:rPr/>
              <a:t>Might face dependencies issues;</a:t>
            </a:r>
          </a:p>
          <a:p>
            <a:pPr lvl="0"/>
            <a:r>
              <a:rPr/>
              <a:t>… We want to </a:t>
            </a:r>
            <a:r>
              <a:rPr b="1"/>
              <a:t>virtualize</a:t>
            </a:r>
          </a:p>
          <a:p>
            <a:pPr lvl="1"/>
            <a:r>
              <a:rPr/>
              <a:t>remember the independence constraint.</a:t>
            </a:r>
          </a:p>
          <a:p>
            <a:pPr lvl="0"/>
            <a:r>
              <a:rPr b="1"/>
              <a:t>Docker Swarm</a:t>
            </a:r>
            <a:r>
              <a:rPr/>
              <a:t> 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+ Docker architecture</a:t>
            </a:r>
          </a:p>
          <a:p>
            <a:pPr lvl="0" indent="0" marL="0">
              <a:buNone/>
            </a:pPr>
            <a:r>
              <a:rPr/>
              <a:t>Hardware + Docker architecture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Docker overview</a:t>
            </a:r>
          </a:p>
          <a:p>
            <a:pPr lvl="0"/>
            <a:r>
              <a:rPr/>
              <a:t>Docker is a platform for developing, shipping and running application using container based virtualization technology.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w.r.t. virtual machines (e.g., VMWare):</a:t>
            </a:r>
          </a:p>
          <a:p>
            <a:pPr lvl="1"/>
            <a:r>
              <a:rPr/>
              <a:t>more lightweight;</a:t>
            </a:r>
          </a:p>
          <a:p>
            <a:pPr lvl="1"/>
            <a:r>
              <a:rPr/>
              <a:t>no guest OS;</a:t>
            </a:r>
          </a:p>
          <a:p>
            <a:pPr lvl="1"/>
            <a:r>
              <a:rPr/>
              <a:t>reduced resource consumption;</a:t>
            </a:r>
          </a:p>
          <a:p>
            <a:pPr lvl="1"/>
            <a:r>
              <a:rPr/>
              <a:t>more containers per host;</a:t>
            </a:r>
          </a:p>
          <a:p>
            <a:pPr lvl="1"/>
            <a:r>
              <a:rPr/>
              <a:t>greater portability</a:t>
            </a:r>
          </a:p>
        </p:txBody>
      </p:sp>
      <p:pic>
        <p:nvPicPr>
          <p:cNvPr descr="https://github.com/ManuelePasini/slides-markdown/blob/master/slides/images/dataplat_seminar/virtualization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12900"/>
            <a:ext cx="40386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Container vs. Virtual Machines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test1</a:t>
            </a:r>
          </a:p>
        </p:txBody>
      </p:sp>
      <p:pic>
        <p:nvPicPr>
          <p:cNvPr descr="https://github.com/ManuelePasini/slides-markdown/blob/master/slides/images/dataplat_seminar/func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13200" y="203200"/>
            <a:ext cx="42164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test2</a:t>
            </a:r>
          </a:p>
        </p:txBody>
      </p:sp>
      <p:pic>
        <p:nvPicPr>
          <p:cNvPr descr="https://github.com/ManuelePasini/slides-markdown/blob/master/slides/images/dataplat_seminar/ortho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test3</a:t>
            </a:r>
          </a:p>
        </p:txBody>
      </p:sp>
      <p:pic>
        <p:nvPicPr>
          <p:cNvPr descr="https://github.com/ManuelePasini/slides-markdown/blob/master/slides/images/dataplat_seminar/watering_pipeline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52500"/>
            <a:ext cx="51054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test4</a:t>
            </a:r>
          </a:p>
        </p:txBody>
      </p:sp>
      <p:pic>
        <p:nvPicPr>
          <p:cNvPr descr="https://github.com/ManuelePasini/slides-markdown/blob/master/slides/images/dataplat_seminar/agritech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52500"/>
            <a:ext cx="51054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test5</a:t>
            </a:r>
          </a:p>
        </p:txBody>
      </p:sp>
      <p:pic>
        <p:nvPicPr>
          <p:cNvPr descr="https://github.com/ManuelePasini/slides-markdown/blob/master/slides/images/dataplat_seminar/agritech_ods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52500"/>
            <a:ext cx="51054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test6</a:t>
            </a:r>
          </a:p>
        </p:txBody>
      </p:sp>
      <p:pic>
        <p:nvPicPr>
          <p:cNvPr descr="https://github.com/ManuelePasini/slides-markdown/blob/master/slides/images/dataplat_seminar/top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52500"/>
            <a:ext cx="51054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test7</a:t>
            </a:r>
          </a:p>
        </p:txBody>
      </p:sp>
      <p:pic>
        <p:nvPicPr>
          <p:cNvPr descr="https://github.com/ManuelePasini/slides-markdown/blob/master/slides/images/dataplat_seminar/vert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52500"/>
            <a:ext cx="51054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2025-12-05T16:16:39Z</dcterms:created>
  <dcterms:modified xsi:type="dcterms:W3CDTF">2025-12-05T16:16:39Z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