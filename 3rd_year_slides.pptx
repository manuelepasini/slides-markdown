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svg" ContentType="image/svg+xml"/>
  <Override PartName="/docProps/app.xml" ContentType="application/vnd.openxmlformats-officedocument.extended-properties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204"/>
          <a:sy d="100" n="204"/>
        </p:scale>
        <p:origin x="488" y="11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9" Type="http://schemas.openxmlformats.org/officeDocument/2006/relationships/viewProps" Target="viewProps.xml" /><Relationship Id="rId18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1" Type="http://schemas.openxmlformats.org/officeDocument/2006/relationships/tableStyles" Target="tableStyles.xml" /><Relationship Id="rId20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>
            <a:normAutofit/>
          </a:bodyPr>
          <a:lstStyle>
            <a:lvl1pPr>
              <a:defRPr sz="2800"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  <a:latin typeface="Helvetica" panose="020B0604020202020204" pitchFamily="34" charset="0"/>
                <a:cs typeface="Helvetica" panose="020B0604020202020204" pitchFamily="34" charset="0"/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fld id="{241EB5C9-1307-BA42-ABA2-0BC069CD8E7F}" type="datetimeFigureOut">
              <a:rPr lang="en-US" smtClean="0"/>
              <a:pPr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fld id="{C5EF2332-01BF-834F-8236-50238282D53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>
            <a:normAutofit/>
          </a:bodyPr>
          <a:lstStyle>
            <a:lvl1pPr algn="l">
              <a:defRPr sz="20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>
            <a:normAutofit/>
          </a:bodyPr>
          <a:lstStyle>
            <a:lvl1pPr>
              <a:defRPr sz="16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100"/>
            </a:lvl2pPr>
            <a:lvl3pPr>
              <a:defRPr sz="1050"/>
            </a:lvl3pPr>
            <a:lvl4pPr>
              <a:defRPr sz="1000"/>
            </a:lvl4pPr>
            <a:lvl5pPr>
              <a:defRPr sz="10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2000">
          <a:solidFill>
            <a:schemeClr val="tx1"/>
          </a:solidFill>
          <a:latin charset="0" panose="020B0604020202020204" pitchFamily="34" typeface="Helvetica"/>
          <a:ea typeface="+mj-ea"/>
          <a:cs charset="0" panose="020B0604020202020204" pitchFamily="34" typeface="Helvetica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16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16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2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1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1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2.png" /><Relationship Id="rId2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link.springer.com/chapter/10.1007/978-3-031-21343-4_4" TargetMode="External" /><Relationship Id="rId3" Type="http://schemas.openxmlformats.org/officeDocument/2006/relationships/hyperlink" Target="https://www.scopus.com/pages/publications/85064443425" TargetMode="External" /><Relationship Id="rId5" Type="http://schemas.openxmlformats.org/officeDocument/2006/relationships/hyperlink" Target="https://link.springer.com/chapter/10.1007/978-3-031-21343-4_4" TargetMode="External" /><Relationship Id="rId4" Type="http://schemas.openxmlformats.org/officeDocument/2006/relationships/image" Target="../media/image1.pn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hyperlink" Target="https://www.scopus.com/pages/publications/85064443425" TargetMode="External" /><Relationship Id="rId5" Type="http://schemas.openxmlformats.org/officeDocument/2006/relationships/hyperlink" Target="https://digitaltwin1.org/articles/1-2/v2" TargetMode="External" /><Relationship Id="rId4" Type="http://schemas.openxmlformats.org/officeDocument/2006/relationships/image" Target="../media/image4.png" /><Relationship Id="rId2" Type="http://schemas.openxmlformats.org/officeDocument/2006/relationships/image" Target="../media/image3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www.tandfonline.com/doi/full/10.1080/27525783.2025.2600763" TargetMode="Externa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www.sciencedirect.com/journal/computers-and-electronics-in-agriculture" TargetMode="Externa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6.png" /><Relationship Id="rId2" Type="http://schemas.openxmlformats.org/officeDocument/2006/relationships/image" Target="../media/image5.sv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4" Type="http://schemas.openxmlformats.org/officeDocument/2006/relationships/image" Target="../media/image9.png" /><Relationship Id="rId3" Type="http://schemas.openxmlformats.org/officeDocument/2006/relationships/image" Target="../media/image8.png" /><Relationship Id="rId2" Type="http://schemas.openxmlformats.org/officeDocument/2006/relationships/image" Target="../media/image7.sv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vldb.org/2027/" TargetMode="External" /><Relationship Id="rId4" Type="http://schemas.openxmlformats.org/officeDocument/2006/relationships/image" Target="../media/image11.svg" /><Relationship Id="rId3" Type="http://schemas.openxmlformats.org/officeDocument/2006/relationships/image" Target="../media/image10.sv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12.svg" /><Relationship Id="rId2" Type="http://schemas.openxmlformats.org/officeDocument/2006/relationships/image" Target="../media/image12.sv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14.svg" /><Relationship Id="rId2" Type="http://schemas.openxmlformats.org/officeDocument/2006/relationships/image" Target="../media/image13.svg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www.dexa.org/2026/dawak2026.html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Introduction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Hi!</a:t>
            </a:r>
          </a:p>
          <a:p>
            <a:pPr lvl="1"/>
            <a:r>
              <a:rPr/>
              <a:t>Manuele Pasini, 3rd year Ph.D. Candidate</a:t>
            </a:r>
          </a:p>
          <a:p>
            <a:pPr lvl="1"/>
            <a:r>
              <a:rPr/>
              <a:t>Supervisor: Matteo Golfarelli</a:t>
            </a:r>
          </a:p>
          <a:p>
            <a:pPr lvl="1"/>
            <a:r>
              <a:rPr/>
              <a:t>Research interests:</a:t>
            </a:r>
          </a:p>
          <a:p>
            <a:pPr lvl="2"/>
            <a:r>
              <a:rPr/>
              <a:t>Database / Data Engineering</a:t>
            </a:r>
          </a:p>
          <a:p>
            <a:pPr lvl="2"/>
            <a:r>
              <a:rPr/>
              <a:t>Digital Twins &amp; Precisision Agriculture</a:t>
            </a:r>
          </a:p>
          <a:p>
            <a:pPr lvl="1"/>
            <a:r>
              <a:rPr/>
              <a:t>Thesis: Architectures and Methods for Digital Twin Platform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https://github.com/ManuelePasini/slides-markdown/blob/master/slides/images/dt/dt.pn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422400"/>
            <a:ext cx="4038600" cy="2438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Digital Twin functional view</a:t>
            </a:r>
          </a:p>
        </p:txBody>
      </p:sp>
      <p:pic>
        <p:nvPicPr>
          <p:cNvPr descr="https://github.com/ManuelePasini/slides-markdown/blob/master/slides/images/phd3rdyear/dataplat.png?raw=true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648200" y="1485900"/>
            <a:ext cx="4038600" cy="2298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An example of a generic data platform with its components and layers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Digital Twins: Concept &amp; State of the Art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Digital Twin (DT): physical entity (PE) + virtual representation (VE), connected via </a:t>
            </a:r>
            <a:r>
              <a:rPr b="1"/>
              <a:t>bidirectional</a:t>
            </a:r>
            <a:r>
              <a:rPr/>
              <a:t> data flow</a:t>
            </a:r>
          </a:p>
          <a:p>
            <a:pPr lvl="0"/>
            <a:r>
              <a:rPr/>
              <a:t>Reference architectures:</a:t>
            </a:r>
          </a:p>
          <a:p>
            <a:pPr lvl="1"/>
            <a:r>
              <a:rPr/>
              <a:t>3D model (</a:t>
            </a:r>
            <a:r>
              <a:rPr>
                <a:hlinkClick r:id="rId2"/>
              </a:rPr>
              <a:t>M. Grieves</a:t>
            </a:r>
            <a:r>
              <a:rPr/>
              <a:t>)</a:t>
            </a:r>
          </a:p>
          <a:p>
            <a:pPr lvl="1"/>
            <a:r>
              <a:rPr/>
              <a:t>5D model (</a:t>
            </a:r>
            <a:r>
              <a:rPr>
                <a:hlinkClick r:id="rId3"/>
              </a:rPr>
              <a:t>Tao et al.</a:t>
            </a:r>
            <a:r>
              <a:rPr/>
              <a:t>): PE, VE, connection, data, service</a:t>
            </a:r>
          </a:p>
          <a:p>
            <a:pPr lvl="0"/>
            <a:r>
              <a:rPr b="1"/>
              <a:t>Data is not a by-product</a:t>
            </a:r>
            <a:r>
              <a:rPr/>
              <a:t> — it’s the component connecting every dimension</a:t>
            </a:r>
          </a:p>
        </p:txBody>
      </p:sp>
      <p:pic>
        <p:nvPicPr>
          <p:cNvPr descr="https://github.com/ManuelePasini/slides-markdown/blob/master/slides/images/dt/dt.png?raw=true" id="0" name="Picture 1"/>
          <p:cNvPicPr>
            <a:picLocks noGrp="1" noChangeAspect="1"/>
          </p:cNvPicPr>
          <p:nvPr/>
        </p:nvPicPr>
        <p:blipFill>
          <a:blip r:embed="rId4"/>
          <a:stretch>
            <a:fillRect/>
          </a:stretch>
        </p:blipFill>
        <p:spPr bwMode="auto">
          <a:xfrm>
            <a:off x="4648200" y="1422400"/>
            <a:ext cx="4038600" cy="2438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>
                <a:hlinkClick r:id="rId5"/>
              </a:rPr>
              <a:t>M. Grieves</a:t>
            </a:r>
            <a:r>
              <a:rPr/>
              <a:t> 3D Model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https://github.com/ManuelePasini/slides-markdown/blob/master/slides/images/dt/5dim.pn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435100"/>
            <a:ext cx="4038600" cy="2413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5-Dimensional DT (</a:t>
            </a:r>
            <a:r>
              <a:rPr>
                <a:hlinkClick r:id="rId3"/>
              </a:rPr>
              <a:t>Tao et al.</a:t>
            </a:r>
            <a:r>
              <a:rPr/>
              <a:t>)</a:t>
            </a:r>
          </a:p>
        </p:txBody>
      </p:sp>
      <p:pic>
        <p:nvPicPr>
          <p:cNvPr descr="https://github.com/ManuelePasini/slides-markdown/blob/master/slides/images/dt/dt_data.png?raw=true" id="0" name="Picture 1"/>
          <p:cNvPicPr>
            <a:picLocks noGrp="1" noChangeAspect="1"/>
          </p:cNvPicPr>
          <p:nvPr/>
        </p:nvPicPr>
        <p:blipFill>
          <a:blip r:embed="rId4"/>
          <a:stretch>
            <a:fillRect/>
          </a:stretch>
        </p:blipFill>
        <p:spPr bwMode="auto">
          <a:xfrm>
            <a:off x="4648200" y="1358900"/>
            <a:ext cx="4038600" cy="2552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Characterizing Digital Twin data (</a:t>
            </a:r>
            <a:r>
              <a:rPr>
                <a:hlinkClick r:id="rId5"/>
              </a:rPr>
              <a:t>Fei, Tao 2023</a:t>
            </a:r>
            <a:r>
              <a:rPr/>
              <a:t>)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Challenge: Fragmentation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Digital Twins adopted across many independent domains:</a:t>
            </a:r>
          </a:p>
          <a:p>
            <a:pPr lvl="1"/>
            <a:r>
              <a:rPr/>
              <a:t>manufacturing, energy, aerospace, healthcare, agriculture, smart cities, transportation…</a:t>
            </a:r>
          </a:p>
          <a:p>
            <a:pPr lvl="0"/>
            <a:r>
              <a:rPr/>
              <a:t>No universally accepted definition (</a:t>
            </a:r>
            <a:r>
              <a:rPr>
                <a:hlinkClick r:id="rId2"/>
              </a:rPr>
              <a:t>Wuni et al.</a:t>
            </a:r>
            <a:r>
              <a:rPr/>
              <a:t>: 358 definitions surveyed)</a:t>
            </a:r>
          </a:p>
          <a:p>
            <a:pPr lvl="0"/>
            <a:r>
              <a:rPr/>
              <a:t>Most application builds its own:</a:t>
            </a:r>
          </a:p>
          <a:p>
            <a:pPr lvl="1"/>
            <a:r>
              <a:rPr/>
              <a:t>architecture and technological stack</a:t>
            </a:r>
          </a:p>
          <a:p>
            <a:pPr lvl="1"/>
            <a:r>
              <a:rPr/>
              <a:t>data representation</a:t>
            </a:r>
          </a:p>
          <a:p>
            <a:pPr lvl="0"/>
            <a:r>
              <a:rPr/>
              <a:t>Result: isolated, application-specific Digital Twins </a:t>
            </a:r>
          </a:p>
          <a:p>
            <a:pPr lvl="1"/>
            <a:r>
              <a:rPr/>
              <a:t>data isolation</a:t>
            </a:r>
          </a:p>
          <a:p>
            <a:pPr lvl="1"/>
            <a:r>
              <a:rPr/>
              <a:t>architectural heterogeneity</a:t>
            </a:r>
          </a:p>
          <a:p>
            <a:pPr lvl="1"/>
            <a:r>
              <a:rPr/>
              <a:t>scalability issues</a:t>
            </a:r>
          </a:p>
          <a:p>
            <a:pPr lvl="0" indent="0" marL="0">
              <a:buNone/>
            </a:pPr>
            <a:r>
              <a:rPr b="1"/>
              <a:t>Fragmentation → limited standardization &amp; interoperability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Digital Twin Platform: A Data-Oriented Perspective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A Digital Twin is a data-intensive application</a:t>
            </a:r>
          </a:p>
          <a:p>
            <a:pPr lvl="0"/>
            <a:r>
              <a:rPr b="1"/>
              <a:t>Divide et impera</a:t>
            </a:r>
            <a:r>
              <a:rPr/>
              <a:t>: separate the software and data dimensions</a:t>
            </a:r>
          </a:p>
          <a:p>
            <a:pPr lvl="1"/>
            <a:r>
              <a:rPr/>
              <a:t>Software dimension → substantial work, increasingly mature</a:t>
            </a:r>
          </a:p>
          <a:p>
            <a:pPr lvl="1"/>
            <a:r>
              <a:rPr/>
              <a:t>Data dimension → far less mature ⇐ focus of my research</a:t>
            </a:r>
          </a:p>
          <a:p>
            <a:pPr lvl="0"/>
            <a:r>
              <a:rPr b="1"/>
              <a:t>Standardization should start from data</a:t>
            </a:r>
          </a:p>
          <a:p>
            <a:pPr lvl="0"/>
            <a:r>
              <a:rPr/>
              <a:t>Digital Twin Platform (DTP):</a:t>
            </a:r>
          </a:p>
          <a:p>
            <a:pPr lvl="1"/>
            <a:r>
              <a:rPr/>
              <a:t>hosts DTs across their lifecycle, but organized around data</a:t>
            </a:r>
          </a:p>
          <a:p>
            <a:pPr lvl="1"/>
            <a:r>
              <a:rPr/>
              <a:t>agnostic to how a DT is implemented — as long as it respects the platform’s data models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SMARTER: Data-driven optimization of water consumption in kiwifruit orchards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Two kiwifiruit orchards in Emilia-Romagna</a:t>
            </a:r>
          </a:p>
          <a:p>
            <a:pPr lvl="0"/>
            <a:r>
              <a:rPr/>
              <a:t>Data collected from a grid of soil moisture sensors and weather stations</a:t>
            </a:r>
          </a:p>
          <a:p>
            <a:pPr lvl="0"/>
            <a:r>
              <a:rPr/>
              <a:t>Soil data is interpolated to obtain a 2-dimensional view of soil moisture  Published in </a:t>
            </a:r>
            <a:r>
              <a:rPr>
                <a:hlinkClick r:id="rId2"/>
              </a:rPr>
              <a:t>Computers and Electronics in Agriculture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https://github.com/ManuelePasini/slides-markdown/blob/master/slides/images/phd3rdyear/plant.sv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8000" y="1193800"/>
            <a:ext cx="39370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Grid positioning</a:t>
            </a:r>
          </a:p>
        </p:txBody>
      </p:sp>
      <p:pic>
        <p:nvPicPr>
          <p:cNvPr descr="https://github.com/ManuelePasini/slides-markdown/blob/master/slides/images/phd3rdyear/moisture.png?raw=true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648200" y="2082800"/>
            <a:ext cx="4038600" cy="1104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From continuous humidity to a discrete representation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SMARTER: Results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PID controller + simulation model to determine irrigaton amounts</a:t>
            </a:r>
          </a:p>
        </p:txBody>
      </p:sp>
      <p:pic>
        <p:nvPicPr>
          <p:cNvPr descr="https://github.com/ManuelePasini/slides-markdown/blob/master/slides/images/phd3rdyear/smarter.sv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689100"/>
            <a:ext cx="4038600" cy="1892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An overview of SMARTER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Up to 40% in water savings</a:t>
            </a:r>
          </a:p>
          <a:p>
            <a:pPr lvl="0"/>
            <a:r>
              <a:rPr/>
              <a:t>Fruit quality preserved, smaller fruit but of improved quality</a:t>
            </a:r>
          </a:p>
        </p:txBody>
      </p:sp>
      <p:pic>
        <p:nvPicPr>
          <p:cNvPr descr="https://github.com/ManuelePasini/slides-markdown/blob/master/slides/images/phd3rdyear/smarter_results.png?raw=true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648200" y="1701800"/>
            <a:ext cx="4038600" cy="1866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Water saving results</a:t>
            </a:r>
          </a:p>
        </p:txBody>
      </p:sp>
      <p:pic>
        <p:nvPicPr>
          <p:cNvPr descr="https://github.com/ManuelePasini/slides-markdown/blob/master/slides/images/phd3rdyear/smarter_fruit_results.png?raw=true" id="0" name="Picture 1"/>
          <p:cNvPicPr>
            <a:picLocks noGrp="1" noChangeAspect="1"/>
          </p:cNvPicPr>
          <p:nvPr/>
        </p:nvPicPr>
        <p:blipFill>
          <a:blip r:embed="rId4"/>
          <a:stretch>
            <a:fillRect/>
          </a:stretch>
        </p:blipFill>
        <p:spPr bwMode="auto">
          <a:xfrm>
            <a:off x="4648200" y="1981200"/>
            <a:ext cx="4038600" cy="1308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Fruit quality results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STGraph: A Multistore for Temporal Graphs and Time-Series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A multistore solution for large spatio-temporal property graphs Currently under review at </a:t>
            </a:r>
            <a:r>
              <a:rPr>
                <a:hlinkClick r:id="rId2"/>
              </a:rPr>
              <a:t>53rd International Conference on Very Large Data Bases</a:t>
            </a:r>
          </a:p>
          <a:p>
            <a:pPr lvl="1"/>
            <a:r>
              <a:rPr/>
              <a:t>Graph data model on top of heterogeneous storage</a:t>
            </a:r>
          </a:p>
          <a:p>
            <a:pPr lvl="2"/>
            <a:r>
              <a:rPr/>
              <a:t>Low-evolving data on Graph storage</a:t>
            </a:r>
          </a:p>
          <a:p>
            <a:pPr lvl="2"/>
            <a:r>
              <a:rPr/>
              <a:t>Highly-dynamic data on Time-Series storage</a:t>
            </a:r>
          </a:p>
          <a:p>
            <a:pPr lvl="1"/>
            <a:r>
              <a:rPr/>
              <a:t>Transparent graph query interface.</a:t>
            </a:r>
          </a:p>
        </p:txBody>
      </p:sp>
      <p:pic>
        <p:nvPicPr>
          <p:cNvPr descr="https://github.com/ManuelePasini/slides-markdown/blob/master/slides/images/phd3rdyear/datamodel.svg?raw=true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57200" y="1295400"/>
            <a:ext cx="4038600" cy="269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STGraph Data Model</a:t>
            </a:r>
          </a:p>
        </p:txBody>
      </p:sp>
      <p:pic>
        <p:nvPicPr>
          <p:cNvPr descr="https://github.com/ManuelePasini/slides-markdown/blob/master/slides/images/phd3rdyear/stgraph_results.svg?raw=true" id="0" name="Picture 1"/>
          <p:cNvPicPr>
            <a:picLocks noGrp="1" noChangeAspect="1"/>
          </p:cNvPicPr>
          <p:nvPr/>
        </p:nvPicPr>
        <p:blipFill>
          <a:blip r:embed="rId4"/>
          <a:stretch>
            <a:fillRect/>
          </a:stretch>
        </p:blipFill>
        <p:spPr bwMode="auto">
          <a:xfrm>
            <a:off x="-3424605421912711804224326388453092117542246144885094021058843046054807474094793347678096492991863561202338169411550043463399945095914636658488743553681982069396478369743687494513557283403738092975581230237219359896366770498623917892078044755802758867961827228541368981470995035128038595607113538079341469813964800" y="1193800"/>
            <a:ext cx="-34246054219127118042243263884530921175422461448850940210588430460548074740947933476780964929918635612023381694115500434633999450959146366584887435536819820693964783697436874945135572834037380929755812302372193598963667704986239178920780447558027588679618272285413689814709950351280385956071135380793414698139648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STGraph Architecture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STGraph: A Multistore for Temporal Graphs and Time-Series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Property Graph data model</a:t>
            </a:r>
          </a:p>
          <a:p>
            <a:pPr lvl="1"/>
            <a:r>
              <a:rPr/>
              <a:t>TS events (nodes) can hold edges and properties</a:t>
            </a:r>
          </a:p>
          <a:p>
            <a:pPr lvl="1"/>
            <a:r>
              <a:rPr/>
              <a:t>Edges built at query time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Hybrid storage</a:t>
            </a:r>
          </a:p>
          <a:p>
            <a:pPr lvl="1"/>
            <a:r>
              <a:rPr/>
              <a:t>Dedicated Time-Series streaming ingestion of data</a:t>
            </a:r>
          </a:p>
          <a:p>
            <a:pPr lvl="1"/>
            <a:r>
              <a:rPr/>
              <a:t>Query optimization through filter-pushdown</a:t>
            </a:r>
          </a:p>
          <a:p>
            <a:pPr lvl="1"/>
            <a:r>
              <a:rPr/>
              <a:t>Efficient graph traversal &amp; temporal reasoning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https://github.com/ManuelePasini/slides-markdown/blob/master/slides/images/phd3rdyear/example.sv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295400"/>
            <a:ext cx="4038600" cy="269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Querying STGraph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Results</a:t>
            </a:r>
          </a:p>
        </p:txBody>
      </p:sp>
      <p:pic>
        <p:nvPicPr>
          <p:cNvPr descr="https://github.com/ManuelePasini/slides-markdown/blob/master/slides/images/phd3rdyear/example.svg?raw=true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648200" y="1295400"/>
            <a:ext cx="4038600" cy="269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Ingestion and query results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Anomaly Detection in Complex Sensor Networks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Complex sensor networks are increasingly common</a:t>
            </a:r>
          </a:p>
          <a:p>
            <a:pPr lvl="0"/>
            <a:r>
              <a:rPr/>
              <a:t>Anomaly detection in time-series data is a well-known research field</a:t>
            </a:r>
          </a:p>
          <a:p>
            <a:pPr lvl="0"/>
            <a:r>
              <a:rPr b="1"/>
              <a:t>What about anomalies that are cross-time series?</a:t>
            </a:r>
          </a:p>
          <a:p>
            <a:pPr lvl="0"/>
            <a:r>
              <a:rPr/>
              <a:t>Hopefully to be published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https://github.com/ManuelePasini/slides-markdown/blob/master/slides/images/phd3rdyear/n2g_er.sv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295400"/>
            <a:ext cx="4038600" cy="269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An example of cross-time series anomaly</a:t>
            </a:r>
          </a:p>
        </p:txBody>
      </p:sp>
      <p:pic>
        <p:nvPicPr>
          <p:cNvPr descr="https://github.com/ManuelePasini/slides-markdown/blob/master/slides/images/phd3rdyear/n2g_agro.svg?raw=true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648200" y="1295400"/>
            <a:ext cx="4038600" cy="269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An example of cross-time series anomaly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Anomaly Detection in Complex Sensor Networks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test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LLM-Assisted Metadata Query Answering on Data Warehouses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Published at </a:t>
            </a:r>
            <a:r>
              <a:rPr>
                <a:hlinkClick r:id="rId2"/>
              </a:rPr>
              <a:t>28th International Conference on Big Data Analytics and Knowledge Discovery (DAWAK)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</TotalTime>
  <Words>46</Words>
  <Application>Microsoft Office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Helvetica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2026-09-16T12:25:58Z</dcterms:created>
  <dcterms:modified xsi:type="dcterms:W3CDTF">2026-09-16T12:25:58Z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header-includes">
    <vt:lpwstr/>
  </property>
  <property fmtid="{D5CDD505-2E9C-101B-9397-08002B2CF9AE}" pid="4" name="include-after">
    <vt:lpwstr/>
  </property>
  <property fmtid="{D5CDD505-2E9C-101B-9397-08002B2CF9AE}" pid="5" name="include-before">
    <vt:lpwstr/>
  </property>
  <property fmtid="{D5CDD505-2E9C-101B-9397-08002B2CF9AE}" pid="6" name="labels">
    <vt:lpwstr/>
  </property>
  <property fmtid="{D5CDD505-2E9C-101B-9397-08002B2CF9AE}" pid="7" name="toc-title">
    <vt:lpwstr>Table of contents</vt:lpwstr>
  </property>
</Properties>
</file>