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10" Type="http://schemas.openxmlformats.org/officeDocument/2006/relationships/viewProps" Target="viewProps.xml" /><Relationship Id="rId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2" Type="http://schemas.openxmlformats.org/officeDocument/2006/relationships/tableStyles" Target="tableStyles.xml" /><Relationship Id="rId1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sv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STGraph - A spatio-temporal graph for time-series modelling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Graph DBMSs</a:t>
            </a:r>
          </a:p>
          <a:p>
            <a:pPr lvl="1"/>
            <a:r>
              <a:rPr/>
              <a:t>Natively built on </a:t>
            </a:r>
            <a:r>
              <a:rPr b="1"/>
              <a:t>index-free adjacency principles</a:t>
            </a:r>
            <a:r>
              <a:rPr/>
              <a:t>;</a:t>
            </a:r>
          </a:p>
          <a:p>
            <a:pPr lvl="1"/>
            <a:r>
              <a:rPr/>
              <a:t>Optimized for high-performance entity traversal;</a:t>
            </a:r>
          </a:p>
          <a:p>
            <a:pPr lvl="1"/>
            <a:r>
              <a:rPr/>
              <a:t>Efficient on small-volume datasets .</a:t>
            </a:r>
          </a:p>
          <a:p>
            <a:pPr lvl="0"/>
            <a:r>
              <a:rPr/>
              <a:t>Time-Series DBMSs</a:t>
            </a:r>
          </a:p>
          <a:p>
            <a:pPr lvl="1"/>
            <a:r>
              <a:rPr/>
              <a:t>Natively built on </a:t>
            </a:r>
            <a:r>
              <a:rPr b="1"/>
              <a:t>Log-Structured Merge Tree</a:t>
            </a:r>
            <a:r>
              <a:rPr/>
              <a:t> based data structures;</a:t>
            </a:r>
          </a:p>
          <a:p>
            <a:pPr lvl="1"/>
            <a:r>
              <a:rPr/>
              <a:t>Optimized for high-throughput temporal ingestion and efficient management of time-ordered data;</a:t>
            </a:r>
          </a:p>
          <a:p>
            <a:pPr lvl="1"/>
            <a:r>
              <a:rPr/>
              <a:t>Efficient on large-volume datasets.</a:t>
            </a:r>
          </a:p>
          <a:p>
            <a:pPr lvl="0"/>
            <a:r>
              <a:rPr/>
              <a:t>Different layouts ➔ different ingestion and workload capabilities…</a:t>
            </a:r>
          </a:p>
          <a:p>
            <a:pPr lvl="1"/>
            <a:r>
              <a:rPr/>
              <a:t>Yet many modern data-intensive applications combine both, e.g., IoT systems, Digital Twins, and pervasive computing.</a:t>
            </a:r>
          </a:p>
          <a:p>
            <a:pPr lvl="0"/>
            <a:r>
              <a:rPr b="1"/>
              <a:t>What about an hybrid data structure 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Conceptualization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RQ1</a:t>
            </a:r>
            <a:r>
              <a:rPr/>
              <a:t> - How can we separate, within a specific domain, temporal graph data from time-series data?</a:t>
            </a:r>
          </a:p>
          <a:p>
            <a:pPr lvl="0"/>
            <a:r>
              <a:rPr b="1"/>
              <a:t>RQ2</a:t>
            </a:r>
            <a:r>
              <a:rPr/>
              <a:t> - Can we then embed both data layouts into the same conceptual storage system and provide hybrid capabilities?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raw.githubusercontent.com/ManuelePasini/slides-markdown/refs/heads/master/slides/images/stgraph/STGraph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Graph+TimeSeries Hybrid data model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Nodes</a:t>
            </a:r>
          </a:p>
          <a:p>
            <a:pPr lvl="1"/>
            <a:r>
              <a:rPr/>
              <a:t>Graph node  ;</a:t>
            </a:r>
          </a:p>
          <a:p>
            <a:pPr lvl="1"/>
            <a:r>
              <a:rPr/>
              <a:t>Time-Series node  ;</a:t>
            </a:r>
          </a:p>
          <a:p>
            <a:pPr lvl="0"/>
            <a:r>
              <a:rPr/>
              <a:t>Edges</a:t>
            </a:r>
          </a:p>
          <a:p>
            <a:pPr lvl="1"/>
            <a:r>
              <a:rPr/>
              <a:t>Graph edge  ⟺ </a:t>
            </a:r>
          </a:p>
          <a:p>
            <a:pPr lvl="1"/>
            <a:r>
              <a:rPr/>
              <a:t>Virtual edge  ⟺ 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Implemented in Kotlin.</a:t>
            </a:r>
          </a:p>
          <a:p>
            <a:pPr lvl="0"/>
            <a:r>
              <a:rPr b="1"/>
              <a:t>Graph data layout</a:t>
            </a:r>
          </a:p>
          <a:p>
            <a:pPr lvl="1"/>
            <a:r>
              <a:rPr/>
              <a:t>Index-free adjacency through fixed-size records stored in node, edge, and property files.</a:t>
            </a:r>
          </a:p>
          <a:p>
            <a:pPr lvl="1"/>
            <a:r>
              <a:rPr/>
              <a:t>Properties/edges represented as linked chain of pointers;</a:t>
            </a:r>
          </a:p>
          <a:p>
            <a:pPr lvl="2"/>
            <a:r>
              <a:rPr/>
              <a:t>values &gt; 8 bytes (e.g. strings, geometries) stored in dynamic storage (RocksDB);</a:t>
            </a:r>
          </a:p>
          <a:p>
            <a:pPr lvl="1"/>
            <a:r>
              <a:rPr/>
              <a:t>Time attribute as first citizen;</a:t>
            </a:r>
          </a:p>
          <a:p>
            <a:pPr lvl="0"/>
            <a:r>
              <a:rPr b="1"/>
              <a:t>Time-Series data layout</a:t>
            </a:r>
          </a:p>
          <a:p>
            <a:pPr lvl="1"/>
            <a:r>
              <a:rPr/>
              <a:t>Implemented through AsterixDB (LSM-Tree based);</a:t>
            </a:r>
          </a:p>
          <a:p>
            <a:pPr lvl="1"/>
            <a:r>
              <a:rPr/>
              <a:t>Native spatial capabilities;</a:t>
            </a:r>
          </a:p>
          <a:p>
            <a:pPr lvl="1"/>
            <a:r>
              <a:rPr/>
              <a:t>Primary index on time and secondary index on space;</a:t>
            </a:r>
          </a:p>
          <a:p>
            <a:pPr lvl="1"/>
            <a:r>
              <a:rPr/>
              <a:t>Properties/outgoing edges stored as “fat” graph properties.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Operations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Search algorithm: temporal DFS, temporal validity through constraint tightening:</a:t>
            </a:r>
          </a:p>
          <a:p>
            <a:pPr lvl="1"/>
            <a:r>
              <a:rPr/>
              <a:t>isValid(Path(ni, …, nk)) ⇔ ∩j=i..k-1 Ie(nj,nj+1) ≠ ∅, where Ie = [ta, tb[</a:t>
            </a:r>
          </a:p>
          <a:p>
            <a:pPr lvl="0"/>
            <a:r>
              <a:rPr/>
              <a:t>Querying STGraph:</a:t>
            </a:r>
          </a:p>
          <a:p>
            <a:pPr lvl="1"/>
            <a:r>
              <a:rPr/>
              <a:t>Executed in three steps:</a:t>
            </a:r>
          </a:p>
          <a:p>
            <a:pPr lvl="2"/>
            <a:r>
              <a:rPr/>
              <a:t>Search:</a:t>
            </a:r>
          </a:p>
          <a:p>
            <a:pPr lvl="3"/>
            <a:r>
              <a:rPr/>
              <a:t>Pattern matching through temporal DFS;</a:t>
            </a:r>
          </a:p>
          <a:p>
            <a:pPr lvl="3"/>
            <a:r>
              <a:rPr/>
              <a:t>Path instantiation: if exploring a virtual edge, instantiation its virtual nodes;</a:t>
            </a:r>
          </a:p>
          <a:p>
            <a:pPr lvl="3"/>
            <a:r>
              <a:rPr/>
              <a:t>Path Filtering: add path to solution if satisfies constraints.</a:t>
            </a:r>
          </a:p>
          <a:p>
            <a:pPr lvl="2"/>
            <a:r>
              <a:rPr/>
              <a:t>Temporal properties replacement;</a:t>
            </a:r>
          </a:p>
          <a:p>
            <a:pPr lvl="2"/>
            <a:r>
              <a:rPr/>
              <a:t>Aggregate/Join.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Instantiating a virtual node:</a:t>
            </a:r>
          </a:p>
          <a:p>
            <a:pPr lvl="1"/>
            <a:r>
              <a:rPr/>
              <a:t>Each virtual edge traversal entails a temporal query to AsterixDB;</a:t>
            </a:r>
          </a:p>
          <a:p>
            <a:pPr lvl="1"/>
            <a:r>
              <a:rPr/>
              <a:t>Output tuples are instantiated as in-memory nodes (dummy ID) and connected within the graph.</a:t>
            </a:r>
          </a:p>
          <a:p>
            <a:pPr lvl="0"/>
            <a:r>
              <a:rPr/>
              <a:t>Optimizations</a:t>
            </a:r>
          </a:p>
          <a:p>
            <a:pPr lvl="1"/>
            <a:r>
              <a:rPr/>
              <a:t>Support for join operations through naive nested-Loop join;</a:t>
            </a:r>
          </a:p>
          <a:p>
            <a:pPr lvl="1"/>
            <a:r>
              <a:rPr/>
              <a:t>Support for filter pushdown to AsterixDB;</a:t>
            </a:r>
          </a:p>
          <a:p>
            <a:pPr lvl="1"/>
            <a:r>
              <a:rPr/>
              <a:t>Support for spatial join/filtering operations (e.g., ST_INTERSECTS).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Limitations and Future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As of today</a:t>
            </a:r>
          </a:p>
          <a:p>
            <a:pPr lvl="1"/>
            <a:r>
              <a:rPr/>
              <a:t>No support for cross time-series operations;</a:t>
            </a:r>
          </a:p>
          <a:p>
            <a:pPr lvl="1"/>
            <a:r>
              <a:rPr/>
              <a:t>Supporting only “long” values as TS measurements;</a:t>
            </a:r>
          </a:p>
          <a:p>
            <a:pPr lvl="1"/>
            <a:r>
              <a:rPr/>
              <a:t>Query to AsterixDB is synchronous (shouldn’t be);</a:t>
            </a:r>
          </a:p>
          <a:p>
            <a:pPr lvl="1"/>
            <a:r>
              <a:rPr/>
              <a:t>Limited support for AsterixDB capabilities;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2025-12-05T10:10:20Z</dcterms:created>
  <dcterms:modified xsi:type="dcterms:W3CDTF">2025-12-05T10:10:20Z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