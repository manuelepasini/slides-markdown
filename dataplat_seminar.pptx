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png" ContentType="image/png"/>
  <Default Extension="jpg" ContentType="image/jpeg"/>
  <Default Extension="webp" ContentType="image/webp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204"/>
          <a:sy d="100" n="204"/>
        </p:scale>
        <p:origin x="488" y="11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28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2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00">
          <a:solidFill>
            <a:schemeClr val="tx1"/>
          </a:solidFill>
          <a:latin charset="0" panose="020B0604020202020204" pitchFamily="34" typeface="Helvetica"/>
          <a:ea typeface="+mj-ea"/>
          <a:cs charset="0" panose="020B0604020202020204" pitchFamily="34" typeface="Helvetica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big.csr.unibo.it/" TargetMode="External" /><Relationship Id="rId3" Type="http://schemas.openxmlformats.org/officeDocument/2006/relationships/hyperlink" Target="https://agritechcenter.it/it/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sv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sv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fiware.org/" TargetMode="External" /><Relationship Id="rId3" Type="http://schemas.openxmlformats.org/officeDocument/2006/relationships/hyperlink" Target="https://www.fao.org/agrovoc/" TargetMode="External" /><Relationship Id="rId4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5.png" /><Relationship Id="rId2" Type="http://schemas.openxmlformats.org/officeDocument/2006/relationships/image" Target="../media/image4.sv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jp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jp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webp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0.png" /><Relationship Id="rId2" Type="http://schemas.openxmlformats.org/officeDocument/2006/relationships/image" Target="../media/image9.jp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jp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jp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hyperlink" Target="https://github.com/ManuelePasini/slides-markdown/blob/master/slides/images/dataplat_seminar/ortho.png?raw=true" TargetMode="External" /><Relationship Id="rId6" Type="http://schemas.openxmlformats.org/officeDocument/2006/relationships/image" Target="../media/image16.svg" /><Relationship Id="rId5" Type="http://schemas.openxmlformats.org/officeDocument/2006/relationships/image" Target="../media/image15.svg" /><Relationship Id="rId4" Type="http://schemas.openxmlformats.org/officeDocument/2006/relationships/image" Target="../media/image14.svg" /><Relationship Id="rId2" Type="http://schemas.openxmlformats.org/officeDocument/2006/relationships/image" Target="../media/image13.sv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Platforms - A 3D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Manuele Pasini</a:t>
            </a:r>
          </a:p>
          <a:p>
            <a:pPr lvl="0" indent="0" marL="0">
              <a:buNone/>
            </a:pPr>
            <a:r>
              <a:rPr i="1"/>
              <a:t>manuele.pasini@unibo.it</a:t>
            </a:r>
          </a:p>
          <a:p>
            <a:pPr lvl="0" indent="0" marL="0">
              <a:buNone/>
            </a:pPr>
            <a:r>
              <a:rPr/>
              <a:t>09/12/2025</a:t>
            </a:r>
          </a:p>
          <a:p>
            <a:pPr lvl="0" indent="0" marL="0">
              <a:buNone/>
            </a:pPr>
            <a:r>
              <a:rPr/>
              <a:t>Slides at: tinyurl.com/dataplatseminar</a:t>
            </a:r>
          </a:p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Intro</a:t>
            </a:r>
          </a:p>
          <a:p>
            <a:pPr lvl="0"/>
            <a:r>
              <a:rPr b="1"/>
              <a:t>Who am I ?</a:t>
            </a:r>
          </a:p>
          <a:p>
            <a:pPr lvl="1"/>
            <a:r>
              <a:rPr/>
              <a:t>Manuele Pasini, Ph.D. Candidate in Computer Science and Engineering</a:t>
            </a:r>
          </a:p>
          <a:p>
            <a:pPr lvl="1"/>
            <a:r>
              <a:rPr/>
              <a:t>University of Bologna, </a:t>
            </a:r>
            <a:r>
              <a:rPr>
                <a:hlinkClick r:id="rId2"/>
              </a:rPr>
              <a:t>Business Intelligence Group</a:t>
            </a:r>
          </a:p>
          <a:p>
            <a:pPr lvl="0"/>
            <a:r>
              <a:rPr b="1"/>
              <a:t>Area of Interest:</a:t>
            </a:r>
          </a:p>
          <a:p>
            <a:pPr lvl="1"/>
            <a:r>
              <a:rPr/>
              <a:t>(Almost) the whole data* world.</a:t>
            </a:r>
          </a:p>
          <a:p>
            <a:pPr lvl="2"/>
            <a:r>
              <a:rPr/>
              <a:t>Data engineering;</a:t>
            </a:r>
          </a:p>
          <a:p>
            <a:pPr lvl="2"/>
            <a:r>
              <a:rPr/>
              <a:t>Data integration;</a:t>
            </a:r>
          </a:p>
          <a:p>
            <a:pPr lvl="2"/>
            <a:r>
              <a:rPr/>
              <a:t>Precision Agriculture:</a:t>
            </a:r>
          </a:p>
          <a:p>
            <a:pPr lvl="3"/>
            <a:r>
              <a:rPr/>
              <a:t>Irrigation management;</a:t>
            </a:r>
          </a:p>
          <a:p>
            <a:pPr lvl="3"/>
            <a:r>
              <a:rPr/>
              <a:t>Data Platform for italian agriculture domain @</a:t>
            </a:r>
            <a:r>
              <a:rPr>
                <a:hlinkClick r:id="rId3"/>
              </a:rPr>
              <a:t>Agritech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 case study - The Agritech PNRR Project</a:t>
            </a:r>
          </a:p>
          <a:p>
            <a:pPr lvl="0"/>
            <a:r>
              <a:rPr b="1"/>
              <a:t>Goal</a:t>
            </a:r>
            <a:r>
              <a:rPr/>
              <a:t>: Build a data platform to foster collaboration and integration between different agriculture research projects.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In short:</a:t>
            </a:r>
          </a:p>
          <a:p>
            <a:pPr lvl="1"/>
            <a:r>
              <a:rPr/>
              <a:t>6 research partners;</a:t>
            </a:r>
          </a:p>
          <a:p>
            <a:pPr lvl="1"/>
            <a:r>
              <a:rPr/>
              <a:t>multidisiplinary projects;</a:t>
            </a:r>
          </a:p>
          <a:p>
            <a:pPr lvl="1"/>
            <a:r>
              <a:rPr/>
              <a:t>different goals;</a:t>
            </a:r>
          </a:p>
          <a:p>
            <a:pPr lvl="0"/>
            <a:r>
              <a:rPr/>
              <a:t>Considerations:</a:t>
            </a:r>
          </a:p>
          <a:p>
            <a:pPr lvl="1"/>
            <a:r>
              <a:rPr/>
              <a:t>Requirements might not always be clear;</a:t>
            </a:r>
          </a:p>
          <a:p>
            <a:pPr lvl="1"/>
            <a:r>
              <a:rPr/>
              <a:t>analysis goals could evolve through time!</a:t>
            </a:r>
          </a:p>
          <a:p>
            <a:pPr lvl="0"/>
            <a:r>
              <a:rPr/>
              <a:t>Main challenges:</a:t>
            </a:r>
          </a:p>
          <a:p>
            <a:pPr lvl="1"/>
            <a:r>
              <a:rPr/>
              <a:t>Data governance;</a:t>
            </a:r>
          </a:p>
          <a:p>
            <a:pPr lvl="1"/>
            <a:r>
              <a:rPr/>
              <a:t>Resource governance;</a:t>
            </a:r>
          </a:p>
          <a:p>
            <a:pPr lvl="1"/>
            <a:r>
              <a:rPr/>
              <a:t>Unforseen events.</a:t>
            </a:r>
          </a:p>
        </p:txBody>
      </p:sp>
      <p:pic>
        <p:nvPicPr>
          <p:cNvPr descr="https://github.com/ManuelePasini/slides-markdown/blob/master/slides/images/dataplat_seminar/agritech_first.sv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498600"/>
            <a:ext cx="40386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Agritech project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About Governance…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Requirement gathering</a:t>
            </a:r>
          </a:p>
          <a:p>
            <a:pPr lvl="0" indent="0" marL="0">
              <a:buNone/>
            </a:pPr>
            <a:r>
              <a:rPr/>
              <a:t>We needed to identify key data aspects!</a:t>
            </a:r>
          </a:p>
          <a:p>
            <a:pPr lvl="0"/>
            <a:r>
              <a:rPr/>
              <a:t>Process:</a:t>
            </a:r>
          </a:p>
          <a:p>
            <a:pPr lvl="1"/>
            <a:r>
              <a:rPr/>
              <a:t>Two meetings with each partner;</a:t>
            </a:r>
          </a:p>
          <a:p>
            <a:pPr lvl="1"/>
            <a:r>
              <a:rPr/>
              <a:t>Questionaire filling;</a:t>
            </a:r>
          </a:p>
          <a:p>
            <a:pPr lvl="1"/>
            <a:r>
              <a:rPr/>
              <a:t>10 minutes presentation on their project;</a:t>
            </a:r>
          </a:p>
          <a:p>
            <a:pPr lvl="1"/>
            <a:r>
              <a:rPr/>
              <a:t>Clear questions on the type of data managed.</a:t>
            </a:r>
          </a:p>
          <a:p>
            <a:pPr lvl="0" indent="0" marL="0">
              <a:buNone/>
            </a:pPr>
            <a:r>
              <a:rPr b="1"/>
              <a:t>Desired output</a:t>
            </a:r>
            <a:r>
              <a:rPr/>
              <a:t>: document key data aspects (5Vs) and processing requirements (e.g., GPUS) for each stakeholder.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About Governance…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Output</a:t>
            </a:r>
          </a:p>
          <a:p>
            <a:pPr lvl="0"/>
            <a:r>
              <a:rPr/>
              <a:t>Domain analysis:</a:t>
            </a:r>
          </a:p>
          <a:p>
            <a:pPr lvl="1"/>
            <a:r>
              <a:rPr/>
              <a:t>Project volatility;</a:t>
            </a:r>
          </a:p>
          <a:p>
            <a:pPr lvl="1"/>
            <a:r>
              <a:rPr/>
              <a:t>non-communicating partners;</a:t>
            </a:r>
          </a:p>
          <a:p>
            <a:pPr lvl="1"/>
            <a:r>
              <a:rPr/>
              <a:t>data shattered through different formats;</a:t>
            </a:r>
          </a:p>
          <a:p>
            <a:pPr lvl="1"/>
            <a:r>
              <a:rPr/>
              <a:t>no common ground for interoperability.</a:t>
            </a:r>
          </a:p>
          <a:p>
            <a:pPr lvl="0"/>
            <a:r>
              <a:rPr/>
              <a:t>Identified data aspects:</a:t>
            </a:r>
          </a:p>
          <a:p>
            <a:pPr lvl="1"/>
            <a:r>
              <a:rPr b="1"/>
              <a:t>V</a:t>
            </a:r>
            <a:r>
              <a:rPr/>
              <a:t>ariety: vector, image, multispectral, and sensor data.</a:t>
            </a:r>
          </a:p>
          <a:p>
            <a:pPr lvl="1"/>
            <a:r>
              <a:rPr b="1"/>
              <a:t>V</a:t>
            </a:r>
            <a:r>
              <a:rPr/>
              <a:t>olume: from small sensor data to large drone missions.</a:t>
            </a:r>
          </a:p>
          <a:p>
            <a:pPr lvl="1"/>
            <a:r>
              <a:rPr b="1"/>
              <a:t>V</a:t>
            </a:r>
            <a:r>
              <a:rPr/>
              <a:t>eracity: manual collection and sharing.</a:t>
            </a:r>
          </a:p>
          <a:p>
            <a:pPr lvl="1"/>
            <a:r>
              <a:rPr/>
              <a:t>Strong temporal and spatial connotations.</a:t>
            </a:r>
          </a:p>
        </p:txBody>
      </p:sp>
      <p:pic>
        <p:nvPicPr>
          <p:cNvPr descr="https://github.com/ManuelePasini/slides-markdown/blob/master/slides/images/dataplat_seminar/agritech_second.sv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498600"/>
            <a:ext cx="40386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Agritech project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Towards a mesh architecture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Centralized integration would be a nightmare!</a:t>
            </a:r>
          </a:p>
          <a:p>
            <a:pPr lvl="1"/>
            <a:r>
              <a:rPr/>
              <a:t>1 ETL procedure x stakeholder;</a:t>
            </a:r>
          </a:p>
          <a:p>
            <a:pPr lvl="1"/>
            <a:r>
              <a:rPr/>
              <a:t>hard to enforce data quality;</a:t>
            </a:r>
          </a:p>
          <a:p>
            <a:pPr lvl="1"/>
            <a:r>
              <a:rPr/>
              <a:t>limited scalability (w.r.t. stakeholders).</a:t>
            </a:r>
          </a:p>
          <a:p>
            <a:pPr lvl="0"/>
            <a:r>
              <a:rPr/>
              <a:t>Hybrid solution:</a:t>
            </a:r>
          </a:p>
          <a:p>
            <a:pPr lvl="1"/>
            <a:r>
              <a:rPr/>
              <a:t>Centralized storage;</a:t>
            </a:r>
          </a:p>
          <a:p>
            <a:pPr lvl="1"/>
            <a:r>
              <a:rPr/>
              <a:t>Governance through adherence to </a:t>
            </a:r>
            <a:r>
              <a:rPr>
                <a:hlinkClick r:id="rId2"/>
              </a:rPr>
              <a:t>FIWARE</a:t>
            </a:r>
            <a:r>
              <a:rPr/>
              <a:t> Smart Data Models;</a:t>
            </a:r>
          </a:p>
          <a:p>
            <a:pPr lvl="2"/>
            <a:r>
              <a:rPr/>
              <a:t>JSON descriptor attached to data;</a:t>
            </a:r>
          </a:p>
          <a:p>
            <a:pPr lvl="2"/>
            <a:r>
              <a:rPr/>
              <a:t>Common glossary of terms (e.g., </a:t>
            </a:r>
            <a:r>
              <a:rPr>
                <a:hlinkClick r:id="rId3"/>
              </a:rPr>
              <a:t>AGROVOC</a:t>
            </a:r>
            <a:r>
              <a:rPr/>
              <a:t>);</a:t>
            </a:r>
          </a:p>
          <a:p>
            <a:pPr lvl="2"/>
            <a:r>
              <a:rPr/>
              <a:t>geo-properties standardization.</a:t>
            </a:r>
          </a:p>
          <a:p>
            <a:pPr lvl="1"/>
            <a:r>
              <a:rPr/>
              <a:t>Stakeholder responsible of quality adherence;</a:t>
            </a:r>
          </a:p>
          <a:p>
            <a:pPr lvl="1"/>
            <a:r>
              <a:rPr b="1"/>
              <a:t>Data as a product!</a:t>
            </a:r>
          </a:p>
        </p:txBody>
      </p:sp>
      <p:pic>
        <p:nvPicPr>
          <p:cNvPr descr="https://github.com/ManuelePasini/slides-markdown/blob/master/slides/images/dataplat_seminar/FIWARE.png?raw=true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5562600" y="1193800"/>
            <a:ext cx="222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FIWARE Agrifood Smart Data Model example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Agritech architecture</a:t>
            </a:r>
          </a:p>
        </p:txBody>
      </p:sp>
      <p:pic>
        <p:nvPicPr>
          <p:cNvPr descr="https://github.com/ManuelePasini/slides-markdown/blob/master/slides/images/dataplat_seminar/agritech_conceptual.sv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98600"/>
            <a:ext cx="40386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Agritech Conceptual Architecture</a:t>
            </a:r>
          </a:p>
        </p:txBody>
      </p:sp>
      <p:pic>
        <p:nvPicPr>
          <p:cNvPr descr="https://github.com/ManuelePasini/slides-markdown/blob/master/slides/images/dataplat_seminar/agritech_first.png?raw=true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56200" y="1193800"/>
            <a:ext cx="3022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Agritech functional architecture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talking deploy, we have a problem!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Someting came up, we need to think about a migration first…</a:t>
            </a:r>
            <a:r>
              <a:rPr/>
              <a:t> </a:t>
            </a:r>
            <a:r>
              <a:rPr i="1"/>
              <a:t>Slides at: tinyurl.com/dataplatmigration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let’s talk deploy!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 a hardware level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12 nodes (and counting…)</a:t>
            </a:r>
          </a:p>
          <a:p>
            <a:pPr lvl="1"/>
            <a:r>
              <a:rPr/>
              <a:t>CPU 20 core w5-2445 @4.6 GHZ</a:t>
            </a:r>
          </a:p>
          <a:p>
            <a:pPr lvl="1"/>
            <a:r>
              <a:rPr/>
              <a:t>256 GB RAM</a:t>
            </a:r>
          </a:p>
          <a:p>
            <a:pPr lvl="1"/>
            <a:r>
              <a:rPr/>
              <a:t>12 TB HDD</a:t>
            </a:r>
          </a:p>
          <a:p>
            <a:pPr lvl="0"/>
            <a:r>
              <a:rPr/>
              <a:t>2 GPUs NVIDIA RTX 6000 Ada Generation</a:t>
            </a:r>
          </a:p>
          <a:p>
            <a:pPr lvl="0"/>
            <a:r>
              <a:rPr/>
              <a:t>1 Network File System (3 TB)</a:t>
            </a:r>
          </a:p>
        </p:txBody>
      </p:sp>
      <p:pic>
        <p:nvPicPr>
          <p:cNvPr descr="https://github.com/ManuelePasini/slides-markdown/blob/master/slides/images/dataplat_seminar/Slide5.jp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498600"/>
            <a:ext cx="40386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Hardware architecture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 a hardware level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We don’t really want to work on bare metal…</a:t>
            </a:r>
          </a:p>
          <a:p>
            <a:pPr lvl="1"/>
            <a:r>
              <a:rPr/>
              <a:t>Need to build fault tolerance mechanisms;</a:t>
            </a:r>
          </a:p>
          <a:p>
            <a:pPr lvl="1"/>
            <a:r>
              <a:rPr/>
              <a:t>Need to build monitoring tools;</a:t>
            </a:r>
          </a:p>
          <a:p>
            <a:pPr lvl="1"/>
            <a:r>
              <a:rPr/>
              <a:t>Probable dependency issues;</a:t>
            </a:r>
          </a:p>
          <a:p>
            <a:pPr lvl="1"/>
            <a:r>
              <a:rPr/>
              <a:t> no isolation .</a:t>
            </a:r>
          </a:p>
          <a:p>
            <a:pPr lvl="0"/>
            <a:r>
              <a:rPr/>
              <a:t>… We want to </a:t>
            </a:r>
            <a:r>
              <a:rPr b="1"/>
              <a:t>virtualize</a:t>
            </a:r>
          </a:p>
          <a:p>
            <a:pPr lvl="1"/>
            <a:r>
              <a:rPr/>
              <a:t>remember the independence constraint.</a:t>
            </a:r>
          </a:p>
          <a:p>
            <a:pPr lvl="0"/>
            <a:r>
              <a:rPr b="1"/>
              <a:t>Docker</a:t>
            </a:r>
            <a:r>
              <a:rPr/>
              <a:t> (or Kubernetes in production environments)!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Hardware + Docker architecture</a:t>
            </a:r>
          </a:p>
          <a:p>
            <a:pPr lvl="0" indent="0" marL="0">
              <a:buNone/>
            </a:pPr>
            <a:r>
              <a:rPr/>
              <a:t>Hardware + Docker architecture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Docker overview</a:t>
            </a:r>
          </a:p>
          <a:p>
            <a:pPr lvl="0"/>
            <a:r>
              <a:rPr/>
              <a:t>Docker is a platform for developing, shipping and running isolated application using container based virtualization technology.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w.r.t. virtual machines (e.g., VMWare):</a:t>
            </a:r>
          </a:p>
          <a:p>
            <a:pPr lvl="1"/>
            <a:r>
              <a:rPr/>
              <a:t>more lightweight;</a:t>
            </a:r>
          </a:p>
          <a:p>
            <a:pPr lvl="1"/>
            <a:r>
              <a:rPr/>
              <a:t>no guest OS;</a:t>
            </a:r>
          </a:p>
          <a:p>
            <a:pPr lvl="1"/>
            <a:r>
              <a:rPr/>
              <a:t>reduced resource consumption;</a:t>
            </a:r>
          </a:p>
          <a:p>
            <a:pPr lvl="1"/>
            <a:r>
              <a:rPr/>
              <a:t>more containers per host;</a:t>
            </a:r>
          </a:p>
          <a:p>
            <a:pPr lvl="1"/>
            <a:r>
              <a:rPr/>
              <a:t>greater portability.</a:t>
            </a:r>
          </a:p>
        </p:txBody>
      </p:sp>
      <p:pic>
        <p:nvPicPr>
          <p:cNvPr descr="https://github.com/ManuelePasini/slides-markdown/blob/master/slides/images/dataplat_seminar/virtualization.jp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612900"/>
            <a:ext cx="4038600" cy="204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Container vs. Virtual Machines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Docker Swarm</a:t>
            </a:r>
          </a:p>
          <a:p>
            <a:pPr lvl="0"/>
            <a:r>
              <a:rPr/>
              <a:t>Swarm mode is an advanced feature for managing a cluster of Docker daemons.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Characteristics:</a:t>
            </a:r>
          </a:p>
          <a:p>
            <a:pPr lvl="1"/>
            <a:r>
              <a:rPr/>
              <a:t>Integrated Orchestration;</a:t>
            </a:r>
          </a:p>
          <a:p>
            <a:pPr lvl="1"/>
            <a:r>
              <a:rPr/>
              <a:t>multi-host networking;</a:t>
            </a:r>
          </a:p>
          <a:p>
            <a:pPr lvl="1"/>
            <a:r>
              <a:rPr/>
              <a:t>load balancing;</a:t>
            </a:r>
          </a:p>
          <a:p>
            <a:pPr lvl="1"/>
            <a:r>
              <a:rPr/>
              <a:t>scaling features;</a:t>
            </a:r>
          </a:p>
          <a:p>
            <a:pPr lvl="1"/>
            <a:r>
              <a:rPr/>
              <a:t>service discovery;</a:t>
            </a:r>
          </a:p>
          <a:p>
            <a:pPr lvl="1"/>
            <a:r>
              <a:rPr/>
              <a:t>rolling updates.</a:t>
            </a:r>
          </a:p>
        </p:txBody>
      </p:sp>
      <p:pic>
        <p:nvPicPr>
          <p:cNvPr descr="https://docs.docker.com/engine/swarm/images/swarm-diagram.webp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Docker swarm architecture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Building a Data Platform</a:t>
            </a:r>
          </a:p>
          <a:p>
            <a:pPr lvl="0"/>
            <a:r>
              <a:rPr/>
              <a:t>Platform services as Docker services.</a:t>
            </a:r>
          </a:p>
          <a:p>
            <a:pPr lvl="0"/>
            <a:r>
              <a:rPr/>
              <a:t>Logically organized in stacks, manageable throguh Portainer.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github.com/ManuelePasini/slides-markdown/blob/master/slides/images/dataplat_seminar/top_view.jp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98600"/>
            <a:ext cx="40386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Docker swarm architecture</a:t>
            </a:r>
          </a:p>
        </p:txBody>
      </p:sp>
      <p:pic>
        <p:nvPicPr>
          <p:cNvPr descr="https://github.com/ManuelePasini/slides-markdown/blob/master/slides/images/dataplat_seminar/stack.png?raw=true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800600" y="1193800"/>
            <a:ext cx="374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Docker stack example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the </a:t>
            </a:r>
            <a:r>
              <a:rPr b="1"/>
              <a:t>what</a:t>
            </a:r>
            <a:r>
              <a:rPr/>
              <a:t>, but…</a:t>
            </a:r>
          </a:p>
          <a:p>
            <a:pPr lvl="0"/>
            <a:r>
              <a:rPr/>
              <a:t>… Too many things in one-flat schema, we need to add another dimension.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 perspective change - Vertical View</a:t>
            </a:r>
          </a:p>
        </p:txBody>
      </p:sp>
      <p:pic>
        <p:nvPicPr>
          <p:cNvPr descr="https://github.com/ManuelePasini/slides-markdown/blob/master/slides/images/dataplat_seminar/vert_view.jp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Vertical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Portainer grants you access from the top…</a:t>
            </a:r>
          </a:p>
          <a:p>
            <a:pPr lvl="1"/>
            <a:r>
              <a:rPr/>
              <a:t>SSH on phisical machines grants access from the bottom.</a:t>
            </a:r>
          </a:p>
          <a:p>
            <a:pPr lvl="0"/>
            <a:r>
              <a:rPr/>
              <a:t>Now we know the </a:t>
            </a:r>
            <a:r>
              <a:rPr b="1"/>
              <a:t>where</a:t>
            </a:r>
            <a:r>
              <a:rPr/>
              <a:t>…</a:t>
            </a:r>
          </a:p>
          <a:p>
            <a:pPr lvl="0"/>
            <a:r>
              <a:rPr/>
              <a:t>What about the </a:t>
            </a:r>
            <a:r>
              <a:rPr b="1"/>
              <a:t>how</a:t>
            </a:r>
            <a:r>
              <a:rPr/>
              <a:t> 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Connecting the wires - Functional View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Processing Module:</a:t>
            </a:r>
          </a:p>
          <a:p>
            <a:pPr lvl="1"/>
            <a:r>
              <a:rPr/>
              <a:t>Platform processes: internal to the platform, used for providing users tools&amp;data (e.g. download SENTINEL-2 images)</a:t>
            </a:r>
          </a:p>
          <a:p>
            <a:pPr lvl="1"/>
            <a:r>
              <a:rPr/>
              <a:t>User processes: specific to a user (e.g. UniPR), black-box to the platform. Interact through APIs.</a:t>
            </a:r>
          </a:p>
          <a:p>
            <a:pPr lvl="0"/>
            <a:r>
              <a:rPr/>
              <a:t>Metadata Module: Support governance policies (e.g., FIWARE)</a:t>
            </a:r>
          </a:p>
          <a:p>
            <a:pPr lvl="0"/>
            <a:r>
              <a:rPr/>
              <a:t>Storage Module: Heterogeneous and hierarachical set of storage systems (e.g., Hadoop, MongoDB, PostgreSQL)</a:t>
            </a:r>
          </a:p>
          <a:p>
            <a:pPr lvl="0"/>
            <a:r>
              <a:rPr/>
              <a:t>APIs Module: defines how users interacts with the platform services.</a:t>
            </a:r>
          </a:p>
          <a:p>
            <a:pPr lvl="0"/>
            <a:r>
              <a:rPr b="1"/>
              <a:t>Apache Airflow</a:t>
            </a:r>
            <a:r>
              <a:rPr/>
              <a:t> as platform quarterback!</a:t>
            </a:r>
          </a:p>
        </p:txBody>
      </p:sp>
      <p:pic>
        <p:nvPicPr>
          <p:cNvPr descr="https://github.com/ManuelePasini/slides-markdown/blob/master/slides/images/dataplat_seminar/func_view.jp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76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Functional view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Let’s put things toghether</a:t>
            </a:r>
          </a:p>
        </p:txBody>
      </p:sp>
      <p:pic>
        <p:nvPicPr>
          <p:cNvPr descr="https://github.com/ManuelePasini/slides-markdown/blob/master/slides/images/dataplat_seminar/ortho.sv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98800" y="1193800"/>
            <a:ext cx="2946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 Platform as a whole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3"/>
              </a:rPr>
              <a:t>A bigger version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SMARTER - Irrigation optimization of fruit orchards</a:t>
            </a:r>
          </a:p>
        </p:txBody>
      </p:sp>
      <p:pic>
        <p:nvPicPr>
          <p:cNvPr descr="https://github.com/ManuelePasini/slides-markdown/blob/master/slides/images/dataplat_seminar/watering.svg?raw=true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943100" y="1193800"/>
            <a:ext cx="5270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Smart Irrigation 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Agritech - A Data Platform for Italian Precision Agriculturew</a:t>
            </a:r>
          </a:p>
        </p:txBody>
      </p:sp>
      <p:pic>
        <p:nvPicPr>
          <p:cNvPr descr="https://github.com/ManuelePasini/slides-markdown/blob/master/slides/images/dataplat_seminar/agritech.svg?raw=true" id="0" name="Picture 1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2044700" y="1193800"/>
            <a:ext cx="5054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Agritech actual functional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Agritech - Towards further structure</a:t>
            </a:r>
          </a:p>
        </p:txBody>
      </p:sp>
      <p:pic>
        <p:nvPicPr>
          <p:cNvPr descr="https://github.com/ManuelePasini/slides-markdown/blob/master/slides/images/dataplat_seminar/agritech_ods.svg?raw=true" id="0" name="Picture 1"/>
          <p:cNvPicPr>
            <a:picLocks noGrp="1"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2032000" y="1193800"/>
            <a:ext cx="5092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Agritech future functional view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Thanks!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2026-09-18T12:38:54Z</dcterms:created>
  <dcterms:modified xsi:type="dcterms:W3CDTF">2026-09-18T12:38:54Z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