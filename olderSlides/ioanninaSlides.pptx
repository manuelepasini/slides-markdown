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g" ContentType="image/jpeg"/>
  <Override PartName="/docProps/app.xml" ContentType="application/vnd.openxmlformats-officedocument.extended-properties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204"/>
          <a:sy d="100" n="204"/>
        </p:scale>
        <p:origin x="488" y="112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6" Type="http://schemas.openxmlformats.org/officeDocument/2006/relationships/viewProps" Target="viewProps.xml" /><Relationship Id="rId5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8" Type="http://schemas.openxmlformats.org/officeDocument/2006/relationships/tableStyles" Target="tableStyles.xml" /><Relationship Id="rId7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>
            <a:normAutofit/>
          </a:bodyPr>
          <a:lstStyle>
            <a:lvl1pPr>
              <a:defRPr sz="2800"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  <a:latin typeface="Helvetica" panose="020B0604020202020204" pitchFamily="34" charset="0"/>
                <a:cs typeface="Helvetica" panose="020B0604020202020204" pitchFamily="34" charset="0"/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241EB5C9-1307-BA42-ABA2-0BC069CD8E7F}" type="datetimeFigureOut">
              <a:rPr lang="en-US" smtClean="0"/>
              <a:pPr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latin typeface="Helvetica" panose="020B0604020202020204" pitchFamily="34" charset="0"/>
                <a:cs typeface="Helvetica" panose="020B0604020202020204" pitchFamily="34" charset="0"/>
              </a:defRPr>
            </a:lvl1pPr>
          </a:lstStyle>
          <a:p>
            <a:fld id="{C5EF2332-01BF-834F-8236-50238282D533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>
            <a:normAutofit/>
          </a:bodyPr>
          <a:lstStyle>
            <a:lvl1pPr algn="l">
              <a:defRPr sz="2000" b="1" cap="all"/>
            </a:lvl1pPr>
          </a:lstStyle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>
            <a:normAutofit/>
          </a:bodyPr>
          <a:lstStyle>
            <a:lvl1pPr>
              <a:defRPr sz="16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100"/>
            </a:lvl2pPr>
            <a:lvl3pPr>
              <a:defRPr sz="1050"/>
            </a:lvl3pPr>
            <a:lvl4pPr>
              <a:defRPr sz="1000"/>
            </a:lvl4pPr>
            <a:lvl5pPr>
              <a:defRPr sz="100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>
            <a:normAutofit/>
          </a:bodyPr>
          <a:lstStyle>
            <a:lvl1pPr marL="0" indent="0">
              <a:buNone/>
              <a:defRPr sz="16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 dirty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>
            <a:normAutofit/>
          </a:bodyPr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50"/>
            </a:lvl4pPr>
            <a:lvl5pPr>
              <a:defRPr sz="105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dirty="0"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dirty="0" lang="en-US"/>
              <a:t>Click to edit Master text styles</a:t>
            </a:r>
          </a:p>
          <a:p>
            <a:pPr lvl="1"/>
            <a:r>
              <a:rPr dirty="0" lang="en-US"/>
              <a:t>Second level</a:t>
            </a:r>
          </a:p>
          <a:p>
            <a:pPr lvl="2"/>
            <a:r>
              <a:rPr dirty="0" lang="en-US"/>
              <a:t>Third level</a:t>
            </a:r>
          </a:p>
          <a:p>
            <a:pPr lvl="3"/>
            <a:r>
              <a:rPr dirty="0" lang="en-US"/>
              <a:t>Fourth level</a:t>
            </a:r>
          </a:p>
          <a:p>
            <a:pPr lvl="4"/>
            <a:r>
              <a:rPr dirty="0"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2/25/2024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2000">
          <a:solidFill>
            <a:schemeClr val="tx1"/>
          </a:solidFill>
          <a:latin charset="0" panose="020B0604020202020204" pitchFamily="34" typeface="Helvetica"/>
          <a:ea typeface="+mj-ea"/>
          <a:cs charset="0" panose="020B0604020202020204" pitchFamily="34" typeface="Helvetica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16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2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100">
          <a:solidFill>
            <a:schemeClr val="tx1"/>
          </a:solidFill>
          <a:latin charset="0" panose="020B0604020202020204" pitchFamily="34" typeface="Helvetica"/>
          <a:ea typeface="+mn-ea"/>
          <a:cs charset="0" panose="020B0604020202020204" pitchFamily="34" typeface="Helvetica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hyperlink" Target="https://big.csr.unibo.it/" TargetMode="External" /><Relationship Id="rId3" Type="http://schemas.openxmlformats.org/officeDocument/2006/relationships/hyperlink" Target="https://agritechcenter.it/it/" TargetMode="Externa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4.xml" /><Relationship Id="rId2" Type="http://schemas.openxmlformats.org/officeDocument/2006/relationships/image" Target="../media/image1.jpg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 sz="half"/>
          </p:nvPr>
        </p:nvSpPr>
        <p:spPr/>
        <p:txBody>
          <a:bodyPr/>
          <a:lstStyle/>
          <a:p>
            <a:pPr lvl="0"/>
            <a:r>
              <a:rPr b="1"/>
              <a:t>Who am I ?</a:t>
            </a:r>
          </a:p>
          <a:p>
            <a:pPr lvl="1"/>
            <a:r>
              <a:rPr/>
              <a:t>Manuele Pasini, Ph.D. Candidate in Computer Science and Engineering</a:t>
            </a:r>
          </a:p>
          <a:p>
            <a:pPr lvl="1"/>
            <a:r>
              <a:rPr/>
              <a:t>University of Bologna, </a:t>
            </a:r>
            <a:r>
              <a:rPr>
                <a:hlinkClick r:id="rId2"/>
              </a:rPr>
              <a:t>Business Intelligence Group</a:t>
            </a:r>
          </a:p>
          <a:p>
            <a:pPr lvl="0"/>
            <a:r>
              <a:rPr b="1"/>
              <a:t>Area of Interest:</a:t>
            </a:r>
          </a:p>
          <a:p>
            <a:pPr lvl="1"/>
            <a:r>
              <a:rPr/>
              <a:t>Traditional DBMS, Big Data and Data Platforms</a:t>
            </a:r>
          </a:p>
          <a:p>
            <a:pPr lvl="2"/>
            <a:r>
              <a:rPr/>
              <a:t>Data architectures and methodologies for Digital Twins</a:t>
            </a:r>
          </a:p>
          <a:p>
            <a:pPr lvl="2"/>
            <a:r>
              <a:rPr/>
              <a:t>Precision Agriculture:</a:t>
            </a:r>
          </a:p>
          <a:p>
            <a:pPr lvl="3"/>
            <a:r>
              <a:rPr/>
              <a:t>Irrigation optimization</a:t>
            </a:r>
          </a:p>
          <a:p>
            <a:pPr lvl="3"/>
            <a:r>
              <a:rPr/>
              <a:t>Data Platform for italian agriculture domain @</a:t>
            </a:r>
            <a:r>
              <a:rPr>
                <a:hlinkClick r:id="rId3"/>
              </a:rPr>
              <a:t>Agritech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Oh God no, not DTs again</a:t>
            </a:r>
          </a:p>
          <a:p>
            <a:pPr lvl="0" indent="0" marL="0">
              <a:buNone/>
            </a:pPr>
            <a:r>
              <a:rPr/>
              <a:t>Oh God no, not DTs again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Current Work</a:t>
            </a:r>
          </a:p>
        </p:txBody>
      </p:sp>
      <p:pic>
        <p:nvPicPr>
          <p:cNvPr descr="https://raw.githubusercontent.com/ManuelePasini/slides-markdown/refs/heads/master/slides/images/ioanninaSlides/catalog.jpg" id="0" name="Picture 1"/>
          <p:cNvPicPr>
            <a:picLocks noGrp="1" noChangeAspect="1"/>
          </p:cNvPicPr>
          <p:nvPr/>
        </p:nvPicPr>
        <p:blipFill>
          <a:blip r:embed="rId2"/>
          <a:stretch>
            <a:fillRect/>
          </a:stretch>
        </p:blipFill>
        <p:spPr bwMode="auto">
          <a:xfrm>
            <a:off x="457200" y="1485900"/>
            <a:ext cx="4038600" cy="2298700"/>
          </a:xfrm>
          <a:prstGeom prst="rect">
            <a:avLst/>
          </a:prstGeom>
          <a:noFill/>
          <a:ln w="9525">
            <a:noFill/>
            <a:headEnd/>
            <a:tailEnd/>
          </a:ln>
        </p:spPr>
      </p:pic>
      <p:sp>
        <p:nvSpPr>
          <p:cNvPr id="1" name="TextBox 3"/>
          <p:cNvSpPr txBox="1"/>
          <p:nvPr/>
        </p:nvSpPr>
        <p:spPr>
          <a:xfrm>
            <a:off x="457200" y="4076700"/>
            <a:ext cx="4038600" cy="508000"/>
          </a:xfrm>
          <a:prstGeom prst="rect">
            <a:avLst/>
          </a:prstGeom>
          <a:noFill/>
        </p:spPr>
        <p:txBody>
          <a:bodyPr/>
          <a:lstStyle/>
          <a:p>
            <a:pPr lvl="0" indent="0" marL="0" algn="ctr">
              <a:buNone/>
            </a:pPr>
            <a:r>
              <a:rPr/>
              <a:t>Excerpt of our P.A. platform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idx="2" sz="half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Graph+TimeSeries Hybrid data model</a:t>
            </a:r>
          </a:p>
          <a:p>
            <a:pPr lvl="0" indent="0" marL="0">
              <a:buNone/>
            </a:pPr>
            <a:r>
              <a:rPr/>
              <a:t>Graph+TimeSeries Hybrid data model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Future plans</a:t>
            </a:r>
          </a:p>
          <a:p>
            <a:pPr lvl="0"/>
            <a:r>
              <a:rPr/>
              <a:t>Hopefully finish and publish the paper;</a:t>
            </a:r>
          </a:p>
          <a:p>
            <a:pPr lvl="0"/>
            <a:r>
              <a:rPr/>
              <a:t>optimize querying performances;</a:t>
            </a:r>
          </a:p>
          <a:p>
            <a:pPr lvl="0"/>
            <a:r>
              <a:rPr/>
              <a:t>enhance query expressiveness;</a:t>
            </a:r>
          </a:p>
          <a:p>
            <a:pPr lvl="0"/>
            <a:r>
              <a:rPr b="1"/>
              <a:t>Survive this journey without developing PTSD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46</Words>
  <Application>Microsoft Office PowerPoint</Application>
  <PresentationFormat>On-screen Show (16:9)</PresentationFormat>
  <Paragraphs>14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8" baseType="lpstr">
      <vt:lpstr>Arial</vt:lpstr>
      <vt:lpstr>Calibri</vt:lpstr>
      <vt:lpstr>Helvetica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2025-11-20T18:54:39Z</dcterms:created>
  <dcterms:modified xsi:type="dcterms:W3CDTF">2025-11-20T18:54:39Z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biblio-config">
    <vt:lpwstr>True</vt:lpwstr>
  </property>
  <property fmtid="{D5CDD505-2E9C-101B-9397-08002B2CF9AE}" pid="3" name="header-includes">
    <vt:lpwstr/>
  </property>
  <property fmtid="{D5CDD505-2E9C-101B-9397-08002B2CF9AE}" pid="4" name="include-after">
    <vt:lpwstr/>
  </property>
  <property fmtid="{D5CDD505-2E9C-101B-9397-08002B2CF9AE}" pid="5" name="include-before">
    <vt:lpwstr/>
  </property>
  <property fmtid="{D5CDD505-2E9C-101B-9397-08002B2CF9AE}" pid="6" name="labels">
    <vt:lpwstr/>
  </property>
  <property fmtid="{D5CDD505-2E9C-101B-9397-08002B2CF9AE}" pid="7" name="toc-title">
    <vt:lpwstr>Table of contents</vt:lpwstr>
  </property>
</Properties>
</file>