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Override PartName="/docProps/app.xml" ContentType="application/vnd.openxmlformats-officedocument.extended-properties+xml"/>
  <Override PartName="/ppt/slideLayouts/slideLayout2.xml" ContentType="application/vnd.openxmlformats-officedocument.presentationml.slideLayout+xml"/>
  <Override PartName="/ppt/slideLayouts/slideLayout1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694"/>
  </p:normalViewPr>
  <p:slideViewPr>
    <p:cSldViewPr snapToGrid="0" snapToObjects="1">
      <p:cViewPr varScale="1">
        <p:scale>
          <a:sx d="100" n="204"/>
          <a:sy d="100" n="204"/>
        </p:scale>
        <p:origin x="488" y="112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5" Type="http://schemas.openxmlformats.org/officeDocument/2006/relationships/viewProps" Target="viewProps.xml" /><Relationship Id="rId4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7" Type="http://schemas.openxmlformats.org/officeDocument/2006/relationships/tableStyles" Target="tableStyles.xml" /><Relationship Id="rId6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>
            <a:normAutofit/>
          </a:bodyPr>
          <a:lstStyle>
            <a:lvl1pPr>
              <a:defRPr sz="2800">
                <a:latin typeface="Helvetica" panose="020B0604020202020204" pitchFamily="34" charset="0"/>
                <a:cs typeface="Helvetica" panose="020B0604020202020204" pitchFamily="34" charset="0"/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  <a:latin typeface="Helvetica" panose="020B0604020202020204" pitchFamily="34" charset="0"/>
                <a:cs typeface="Helvetica" panose="020B0604020202020204" pitchFamily="34" charset="0"/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>
                <a:latin typeface="Helvetica" panose="020B0604020202020204" pitchFamily="34" charset="0"/>
                <a:cs typeface="Helvetica" panose="020B0604020202020204" pitchFamily="34" charset="0"/>
              </a:defRPr>
            </a:lvl1pPr>
          </a:lstStyle>
          <a:p>
            <a:fld id="{241EB5C9-1307-BA42-ABA2-0BC069CD8E7F}" type="datetimeFigureOut">
              <a:rPr lang="en-US" smtClean="0"/>
              <a:pPr/>
              <a:t>2/25/2024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latin typeface="Helvetica" panose="020B0604020202020204" pitchFamily="34" charset="0"/>
                <a:cs typeface="Helvetica" panose="020B0604020202020204" pitchFamily="34" charset="0"/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latin typeface="Helvetica" panose="020B0604020202020204" pitchFamily="34" charset="0"/>
                <a:cs typeface="Helvetica" panose="020B0604020202020204" pitchFamily="34" charset="0"/>
              </a:defRPr>
            </a:lvl1pPr>
          </a:lstStyle>
          <a:p>
            <a:fld id="{C5EF2332-01BF-834F-8236-50238282D533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>
            <a:normAutofit/>
          </a:bodyPr>
          <a:lstStyle>
            <a:lvl1pPr algn="l">
              <a:defRPr sz="2000" b="1" cap="all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200151"/>
            <a:ext cx="4038600" cy="3394472"/>
          </a:xfrm>
        </p:spPr>
        <p:txBody>
          <a:bodyPr>
            <a:normAutofit/>
          </a:bodyPr>
          <a:lstStyle>
            <a:lvl1pPr>
              <a:defRPr sz="1600"/>
            </a:lvl1pPr>
            <a:lvl2pPr>
              <a:defRPr sz="1200"/>
            </a:lvl2pPr>
            <a:lvl3pPr>
              <a:defRPr sz="1100"/>
            </a:lvl3pPr>
            <a:lvl4pPr>
              <a:defRPr sz="1050"/>
            </a:lvl4pPr>
            <a:lvl5pPr>
              <a:defRPr sz="10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200151"/>
            <a:ext cx="4038600" cy="3394472"/>
          </a:xfrm>
        </p:spPr>
        <p:txBody>
          <a:bodyPr>
            <a:normAutofit/>
          </a:bodyPr>
          <a:lstStyle>
            <a:lvl1pPr>
              <a:defRPr sz="1400"/>
            </a:lvl1pPr>
            <a:lvl2pPr>
              <a:defRPr sz="1100"/>
            </a:lvl2pPr>
            <a:lvl3pPr>
              <a:defRPr sz="1050"/>
            </a:lvl3pPr>
            <a:lvl4pPr>
              <a:defRPr sz="1000"/>
            </a:lvl4pPr>
            <a:lvl5pPr>
              <a:defRPr sz="100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>
            <a:normAutofit/>
          </a:bodyPr>
          <a:lstStyle>
            <a:lvl1pPr marL="0" indent="0">
              <a:buNone/>
              <a:defRPr sz="16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>
            <a:normAutofit/>
          </a:bodyPr>
          <a:lstStyle>
            <a:lvl1pPr>
              <a:defRPr sz="1400"/>
            </a:lvl1pPr>
            <a:lvl2pPr>
              <a:defRPr sz="1200"/>
            </a:lvl2pPr>
            <a:lvl3pPr>
              <a:defRPr sz="1100"/>
            </a:lvl3pPr>
            <a:lvl4pPr>
              <a:defRPr sz="1050"/>
            </a:lvl4pPr>
            <a:lvl5pPr>
              <a:defRPr sz="105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>
            <a:normAutofit/>
          </a:bodyPr>
          <a:lstStyle>
            <a:lvl1pPr marL="0" indent="0">
              <a:buNone/>
              <a:defRPr sz="16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>
            <a:normAutofit/>
          </a:bodyPr>
          <a:lstStyle>
            <a:lvl1pPr>
              <a:defRPr sz="1400"/>
            </a:lvl1pPr>
            <a:lvl2pPr>
              <a:defRPr sz="1200"/>
            </a:lvl2pPr>
            <a:lvl3pPr>
              <a:defRPr sz="1100"/>
            </a:lvl3pPr>
            <a:lvl4pPr>
              <a:defRPr sz="1050"/>
            </a:lvl4pPr>
            <a:lvl5pPr>
              <a:defRPr sz="105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857250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dirty="0"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1200151"/>
            <a:ext cx="8229600" cy="3394472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dirty="0" lang="en-US"/>
              <a:t>Click to edit Master text styles</a:t>
            </a:r>
          </a:p>
          <a:p>
            <a:pPr lvl="1"/>
            <a:r>
              <a:rPr dirty="0" lang="en-US"/>
              <a:t>Second level</a:t>
            </a:r>
          </a:p>
          <a:p>
            <a:pPr lvl="2"/>
            <a:r>
              <a:rPr dirty="0" lang="en-US"/>
              <a:t>Third level</a:t>
            </a:r>
          </a:p>
          <a:p>
            <a:pPr lvl="3"/>
            <a:r>
              <a:rPr dirty="0" lang="en-US"/>
              <a:t>Fourth level</a:t>
            </a:r>
          </a:p>
          <a:p>
            <a:pPr lvl="4"/>
            <a:r>
              <a:rPr dirty="0"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342900" eaLnBrk="1" hangingPunct="1" latinLnBrk="0" rtl="0">
        <a:spcBef>
          <a:spcPct val="0"/>
        </a:spcBef>
        <a:buNone/>
        <a:defRPr kern="1200" sz="2000">
          <a:solidFill>
            <a:schemeClr val="tx1"/>
          </a:solidFill>
          <a:latin charset="0" panose="020B0604020202020204" pitchFamily="34" typeface="Helvetica"/>
          <a:ea typeface="+mj-ea"/>
          <a:cs charset="0" panose="020B0604020202020204" pitchFamily="34" typeface="Helvetica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kern="1200" sz="1600">
          <a:solidFill>
            <a:schemeClr val="tx1"/>
          </a:solidFill>
          <a:latin charset="0" panose="020B0604020202020204" pitchFamily="34" typeface="Helvetica"/>
          <a:ea typeface="+mn-ea"/>
          <a:cs charset="0" panose="020B0604020202020204" pitchFamily="34" typeface="Helvetica"/>
        </a:defRPr>
      </a:lvl1pPr>
      <a:lvl2pPr algn="l" defTabSz="342900" eaLnBrk="1" hangingPunct="1" indent="-342900" latinLnBrk="0" marL="685800" rtl="0">
        <a:spcBef>
          <a:spcPct val="20000"/>
        </a:spcBef>
        <a:buFont typeface="Arial"/>
        <a:buChar char="–"/>
        <a:defRPr kern="1200" sz="1600">
          <a:solidFill>
            <a:schemeClr val="tx1"/>
          </a:solidFill>
          <a:latin charset="0" panose="020B0604020202020204" pitchFamily="34" typeface="Helvetica"/>
          <a:ea typeface="+mn-ea"/>
          <a:cs charset="0" panose="020B0604020202020204" pitchFamily="34" typeface="Helvetica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1200">
          <a:solidFill>
            <a:schemeClr val="tx1"/>
          </a:solidFill>
          <a:latin charset="0" panose="020B0604020202020204" pitchFamily="34" typeface="Helvetica"/>
          <a:ea typeface="+mn-ea"/>
          <a:cs charset="0" panose="020B0604020202020204" pitchFamily="34" typeface="Helvetica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1100">
          <a:solidFill>
            <a:schemeClr val="tx1"/>
          </a:solidFill>
          <a:latin charset="0" panose="020B0604020202020204" pitchFamily="34" typeface="Helvetica"/>
          <a:ea typeface="+mn-ea"/>
          <a:cs charset="0" panose="020B0604020202020204" pitchFamily="34" typeface="Helvetica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1100">
          <a:solidFill>
            <a:schemeClr val="tx1"/>
          </a:solidFill>
          <a:latin charset="0" panose="020B0604020202020204" pitchFamily="34" typeface="Helvetica"/>
          <a:ea typeface="+mn-ea"/>
          <a:cs charset="0" panose="020B0604020202020204" pitchFamily="34" typeface="Helvetica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Graph database: Foundations and Data Science Applications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GSQL and GQL : new standards emerged for query language in graphs</a:t>
            </a:r>
          </a:p>
          <a:p>
            <a:pPr lvl="0"/>
            <a:r>
              <a:rPr/>
              <a:t>Cypher ASCII-art syntax (?)</a:t>
            </a:r>
          </a:p>
          <a:p>
            <a:pPr lvl="0"/>
            <a:r>
              <a:rPr/>
              <a:t>Perchè se moltiplico le adjacency matrix di due nodi di un unlabeled graph ottengo tutti i path a distanza due da quel nodo?</a:t>
            </a:r>
          </a:p>
          <a:p>
            <a:pPr lvl="0"/>
            <a:r>
              <a:rPr/>
              <a:t>Neo4J apparently uses 9 bytes for evertexes</a:t>
            </a:r>
          </a:p>
          <a:p>
            <a:pPr lvl="0"/>
            <a:r>
              <a:rPr/>
              <a:t>Pointer to previous relationships is just for optimization (but why? )</a:t>
            </a:r>
          </a:p>
          <a:p>
            <a:pPr lvl="0"/>
            <a:r>
              <a:rPr/>
              <a:t>You don’t have homomorphism in edges unless you break down a pattern into two pattern and joining them. (molto bella questa cosa, forse dovremmo parlare di isomorfismo e omomorfismo sulla nostra struttura dati).</a:t>
            </a:r>
          </a:p>
          <a:p>
            <a:pPr lvl="0"/>
            <a:r>
              <a:rPr/>
              <a:t>Ulmann’s Algorithm.</a:t>
            </a:r>
          </a:p>
          <a:p>
            <a:pPr lvl="0"/>
            <a:r>
              <a:rPr/>
              <a:t>gMark and pgMark: generatori di grafi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Network Data Science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4</TotalTime>
  <Words>46</Words>
  <Application>Microsoft Office PowerPoint</Application>
  <PresentationFormat>On-screen Show (16:9)</PresentationFormat>
  <Paragraphs>14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8" baseType="lpstr">
      <vt:lpstr>Arial</vt:lpstr>
      <vt:lpstr>Calibri</vt:lpstr>
      <vt:lpstr>Helvetica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/>
  <cp:keywords/>
  <dcterms:created xsi:type="dcterms:W3CDTF">2025-11-20T09:47:27Z</dcterms:created>
  <dcterms:modified xsi:type="dcterms:W3CDTF">2025-11-20T09:47:27Z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biblio-config">
    <vt:lpwstr>True</vt:lpwstr>
  </property>
  <property fmtid="{D5CDD505-2E9C-101B-9397-08002B2CF9AE}" pid="3" name="header-includes">
    <vt:lpwstr/>
  </property>
  <property fmtid="{D5CDD505-2E9C-101B-9397-08002B2CF9AE}" pid="4" name="include-after">
    <vt:lpwstr/>
  </property>
  <property fmtid="{D5CDD505-2E9C-101B-9397-08002B2CF9AE}" pid="5" name="include-before">
    <vt:lpwstr/>
  </property>
  <property fmtid="{D5CDD505-2E9C-101B-9397-08002B2CF9AE}" pid="6" name="labels">
    <vt:lpwstr/>
  </property>
  <property fmtid="{D5CDD505-2E9C-101B-9397-08002B2CF9AE}" pid="7" name="toc-title">
    <vt:lpwstr>Table of contents</vt:lpwstr>
  </property>
</Properties>
</file>